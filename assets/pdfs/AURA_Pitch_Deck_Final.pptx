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06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Shape 1"/>
          <p:cNvSpPr/>
          <p:nvPr/>
        </p:nvSpPr>
        <p:spPr>
          <a:xfrm>
            <a:off x="8412480" y="274320"/>
            <a:ext cx="3657600" cy="3657600"/>
          </a:xfrm>
          <a:prstGeom prst="ellipse">
            <a:avLst/>
          </a:prstGeom>
          <a:solidFill>
            <a:srgbClr val="4A0E8F">
              <a:alpha val="1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9144000" y="1005840"/>
            <a:ext cx="2194560" cy="2194560"/>
          </a:xfrm>
          <a:prstGeom prst="ellipse">
            <a:avLst/>
          </a:prstGeom>
          <a:solidFill>
            <a:srgbClr val="7C3AED">
              <a:alpha val="1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9692640" y="1554480"/>
            <a:ext cx="1097280" cy="1097280"/>
          </a:xfrm>
          <a:prstGeom prst="ellipse">
            <a:avLst/>
          </a:prstGeom>
          <a:solidFill>
            <a:srgbClr val="A78BFA">
              <a:alpha val="2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7315200" y="3200400"/>
            <a:ext cx="73152" cy="73152"/>
          </a:xfrm>
          <a:prstGeom prst="ellipse">
            <a:avLst/>
          </a:prstGeom>
          <a:solidFill>
            <a:srgbClr val="A78BFA">
              <a:alpha val="5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7543800" y="3397185"/>
            <a:ext cx="135109" cy="135109"/>
          </a:xfrm>
          <a:prstGeom prst="ellipse">
            <a:avLst/>
          </a:prstGeom>
          <a:solidFill>
            <a:srgbClr val="A78BFA">
              <a:alpha val="48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7772400" y="3474603"/>
            <a:ext cx="175423" cy="175423"/>
          </a:xfrm>
          <a:prstGeom prst="ellipse">
            <a:avLst/>
          </a:prstGeom>
          <a:solidFill>
            <a:srgbClr val="A78BFA">
              <a:alpha val="46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8001000" y="3385693"/>
            <a:ext cx="180010" cy="180010"/>
          </a:xfrm>
          <a:prstGeom prst="ellipse">
            <a:avLst/>
          </a:prstGeom>
          <a:solidFill>
            <a:srgbClr val="A78BFA">
              <a:alpha val="44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8229600" y="3184387"/>
            <a:ext cx="147269" cy="147269"/>
          </a:xfrm>
          <a:prstGeom prst="ellipse">
            <a:avLst/>
          </a:prstGeom>
          <a:solidFill>
            <a:srgbClr val="A78BFA">
              <a:alpha val="42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8458200" y="2992794"/>
            <a:ext cx="88637" cy="88637"/>
          </a:xfrm>
          <a:prstGeom prst="ellipse">
            <a:avLst/>
          </a:prstGeom>
          <a:solidFill>
            <a:srgbClr val="A78BFA">
              <a:alpha val="40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8686800" y="2927132"/>
            <a:ext cx="121709" cy="121709"/>
          </a:xfrm>
          <a:prstGeom prst="ellipse">
            <a:avLst/>
          </a:prstGeom>
          <a:solidFill>
            <a:srgbClr val="A78BFA">
              <a:alpha val="38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8915400" y="3027231"/>
            <a:ext cx="168788" cy="168788"/>
          </a:xfrm>
          <a:prstGeom prst="ellipse">
            <a:avLst/>
          </a:prstGeom>
          <a:solidFill>
            <a:srgbClr val="A78BFA">
              <a:alpha val="36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9144000" y="3232372"/>
            <a:ext cx="182459" cy="182459"/>
          </a:xfrm>
          <a:prstGeom prst="ellipse">
            <a:avLst/>
          </a:prstGeom>
          <a:solidFill>
            <a:srgbClr val="A78BFA">
              <a:alpha val="34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9372600" y="3418119"/>
            <a:ext cx="157946" cy="157946"/>
          </a:xfrm>
          <a:prstGeom prst="ellipse">
            <a:avLst/>
          </a:prstGeom>
          <a:solidFill>
            <a:srgbClr val="A78BFA">
              <a:alpha val="32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9601200" y="3471801"/>
            <a:ext cx="103812" cy="103812"/>
          </a:xfrm>
          <a:prstGeom prst="ellipse">
            <a:avLst/>
          </a:prstGeom>
          <a:solidFill>
            <a:srgbClr val="A78BFA">
              <a:alpha val="30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9829800" y="3360854"/>
            <a:ext cx="107337" cy="107337"/>
          </a:xfrm>
          <a:prstGeom prst="ellipse">
            <a:avLst/>
          </a:prstGeom>
          <a:solidFill>
            <a:srgbClr val="A78BFA">
              <a:alpha val="28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10058400" y="3152579"/>
            <a:ext cx="160240" cy="160240"/>
          </a:xfrm>
          <a:prstGeom prst="ellipse">
            <a:avLst/>
          </a:prstGeom>
          <a:solidFill>
            <a:srgbClr val="A78BFA">
              <a:alpha val="26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10287000" y="2973311"/>
            <a:ext cx="182720" cy="182720"/>
          </a:xfrm>
          <a:prstGeom prst="ellipse">
            <a:avLst/>
          </a:prstGeom>
          <a:solidFill>
            <a:srgbClr val="A78BFA">
              <a:alpha val="24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10515600" y="2931792"/>
            <a:ext cx="166925" cy="166925"/>
          </a:xfrm>
          <a:prstGeom prst="ellipse">
            <a:avLst/>
          </a:prstGeom>
          <a:solidFill>
            <a:srgbClr val="A78BFA">
              <a:alpha val="22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10744200" y="3053207"/>
            <a:ext cx="118373" cy="118373"/>
          </a:xfrm>
          <a:prstGeom prst="ellipse">
            <a:avLst/>
          </a:prstGeom>
          <a:solidFill>
            <a:srgbClr val="A78BFA">
              <a:alpha val="20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10972800" y="3263908"/>
            <a:ext cx="92281" cy="92281"/>
          </a:xfrm>
          <a:prstGeom prst="ellipse">
            <a:avLst/>
          </a:prstGeom>
          <a:solidFill>
            <a:srgbClr val="A78BFA">
              <a:alpha val="18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11201400" y="3436085"/>
            <a:ext cx="149948" cy="149948"/>
          </a:xfrm>
          <a:prstGeom prst="ellipse">
            <a:avLst/>
          </a:prstGeom>
          <a:solidFill>
            <a:srgbClr val="A78BFA">
              <a:alpha val="16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11430000" y="3465299"/>
            <a:ext cx="180788" cy="180788"/>
          </a:xfrm>
          <a:prstGeom prst="ellipse">
            <a:avLst/>
          </a:prstGeom>
          <a:solidFill>
            <a:srgbClr val="A78BFA">
              <a:alpha val="14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11658600" y="3333829"/>
            <a:ext cx="174028" cy="174028"/>
          </a:xfrm>
          <a:prstGeom prst="ellipse">
            <a:avLst/>
          </a:prstGeom>
          <a:solidFill>
            <a:srgbClr val="A78BFA">
              <a:alpha val="12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731520" y="548640"/>
            <a:ext cx="3657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AURA</a:t>
            </a:r>
            <a:endParaRPr lang="en-US" sz="4400" dirty="0"/>
          </a:p>
        </p:txBody>
      </p:sp>
      <p:sp>
        <p:nvSpPr>
          <p:cNvPr id="27" name="Text 25"/>
          <p:cNvSpPr/>
          <p:nvPr/>
        </p:nvSpPr>
        <p:spPr>
          <a:xfrm>
            <a:off x="731520" y="12344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Adaptive Unified Risk Architecture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731520" y="2194560"/>
            <a:ext cx="68580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F3F4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model of you.</a:t>
            </a:r>
            <a:endParaRPr lang="en-US" sz="3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F3F4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risk you'll ever be.</a:t>
            </a:r>
            <a:endParaRPr lang="en-US" sz="3400" dirty="0"/>
          </a:p>
        </p:txBody>
      </p:sp>
      <p:sp>
        <p:nvSpPr>
          <p:cNvPr id="29" name="Shape 27"/>
          <p:cNvSpPr/>
          <p:nvPr/>
        </p:nvSpPr>
        <p:spPr>
          <a:xfrm>
            <a:off x="731520" y="3931920"/>
            <a:ext cx="2560320" cy="1645920"/>
          </a:xfrm>
          <a:prstGeom prst="roundRect">
            <a:avLst>
              <a:gd name="adj" fmla="val 6667"/>
            </a:avLst>
          </a:prstGeom>
          <a:solidFill>
            <a:srgbClr val="1A1330"/>
          </a:solidFill>
          <a:ln w="9525">
            <a:solidFill>
              <a:srgbClr val="2D245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914400" y="4114800"/>
            <a:ext cx="548640" cy="548640"/>
          </a:xfrm>
          <a:prstGeom prst="ellipse">
            <a:avLst/>
          </a:prstGeom>
          <a:solidFill>
            <a:srgbClr val="4A0E8F"/>
          </a:solidFill>
          <a:ln/>
        </p:spPr>
      </p:sp>
      <p:sp>
        <p:nvSpPr>
          <p:cNvPr id="31" name="Text 29"/>
          <p:cNvSpPr/>
          <p:nvPr/>
        </p:nvSpPr>
        <p:spPr>
          <a:xfrm>
            <a:off x="914400" y="41148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📉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1600200" y="406908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20–30%</a:t>
            </a:r>
            <a:endParaRPr lang="en-US" sz="2000" dirty="0"/>
          </a:p>
        </p:txBody>
      </p:sp>
      <p:sp>
        <p:nvSpPr>
          <p:cNvPr id="33" name="Text 31"/>
          <p:cNvSpPr/>
          <p:nvPr/>
        </p:nvSpPr>
        <p:spPr>
          <a:xfrm>
            <a:off x="1600200" y="448056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CREDIT LOSS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REDUCTION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914400" y="5074920"/>
            <a:ext cx="2194560" cy="73152"/>
          </a:xfrm>
          <a:prstGeom prst="roundRect">
            <a:avLst>
              <a:gd name="adj" fmla="val 50000"/>
            </a:avLst>
          </a:prstGeom>
          <a:solidFill>
            <a:srgbClr val="374151"/>
          </a:solidFill>
          <a:ln/>
        </p:spPr>
      </p:sp>
      <p:sp>
        <p:nvSpPr>
          <p:cNvPr id="35" name="Shape 33"/>
          <p:cNvSpPr/>
          <p:nvPr/>
        </p:nvSpPr>
        <p:spPr>
          <a:xfrm>
            <a:off x="914400" y="5074920"/>
            <a:ext cx="548640" cy="73152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/>
        </p:spPr>
      </p:sp>
      <p:sp>
        <p:nvSpPr>
          <p:cNvPr id="36" name="Shape 34"/>
          <p:cNvSpPr/>
          <p:nvPr/>
        </p:nvSpPr>
        <p:spPr>
          <a:xfrm>
            <a:off x="3657600" y="3931920"/>
            <a:ext cx="2560320" cy="1645920"/>
          </a:xfrm>
          <a:prstGeom prst="roundRect">
            <a:avLst>
              <a:gd name="adj" fmla="val 6667"/>
            </a:avLst>
          </a:prstGeom>
          <a:solidFill>
            <a:srgbClr val="1A1330"/>
          </a:solidFill>
          <a:ln w="9525">
            <a:solidFill>
              <a:srgbClr val="2D245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840480" y="4114800"/>
            <a:ext cx="548640" cy="548640"/>
          </a:xfrm>
          <a:prstGeom prst="ellipse">
            <a:avLst/>
          </a:prstGeom>
          <a:solidFill>
            <a:srgbClr val="4A0E8F"/>
          </a:solidFill>
          <a:ln/>
        </p:spPr>
      </p:sp>
      <p:sp>
        <p:nvSpPr>
          <p:cNvPr id="38" name="Text 36"/>
          <p:cNvSpPr/>
          <p:nvPr/>
        </p:nvSpPr>
        <p:spPr>
          <a:xfrm>
            <a:off x="3840480" y="41148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🛡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4526280" y="406908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40–50%</a:t>
            </a:r>
            <a:endParaRPr lang="en-US" sz="2000" dirty="0"/>
          </a:p>
        </p:txBody>
      </p:sp>
      <p:sp>
        <p:nvSpPr>
          <p:cNvPr id="40" name="Text 38"/>
          <p:cNvSpPr/>
          <p:nvPr/>
        </p:nvSpPr>
        <p:spPr>
          <a:xfrm>
            <a:off x="4526280" y="448056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FRAUD LOSS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REDUCTION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3840480" y="5074920"/>
            <a:ext cx="2194560" cy="73152"/>
          </a:xfrm>
          <a:prstGeom prst="roundRect">
            <a:avLst>
              <a:gd name="adj" fmla="val 50000"/>
            </a:avLst>
          </a:prstGeom>
          <a:solidFill>
            <a:srgbClr val="374151"/>
          </a:solidFill>
          <a:ln/>
        </p:spPr>
      </p:sp>
      <p:sp>
        <p:nvSpPr>
          <p:cNvPr id="42" name="Shape 40"/>
          <p:cNvSpPr/>
          <p:nvPr/>
        </p:nvSpPr>
        <p:spPr>
          <a:xfrm>
            <a:off x="3840480" y="5074920"/>
            <a:ext cx="987552" cy="73152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/>
        </p:spPr>
      </p:sp>
      <p:sp>
        <p:nvSpPr>
          <p:cNvPr id="43" name="Shape 41"/>
          <p:cNvSpPr/>
          <p:nvPr/>
        </p:nvSpPr>
        <p:spPr>
          <a:xfrm>
            <a:off x="6583680" y="3931920"/>
            <a:ext cx="2560320" cy="1645920"/>
          </a:xfrm>
          <a:prstGeom prst="roundRect">
            <a:avLst>
              <a:gd name="adj" fmla="val 6667"/>
            </a:avLst>
          </a:prstGeom>
          <a:solidFill>
            <a:srgbClr val="1A1330"/>
          </a:solidFill>
          <a:ln w="9525">
            <a:solidFill>
              <a:srgbClr val="2D245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766560" y="4114800"/>
            <a:ext cx="548640" cy="548640"/>
          </a:xfrm>
          <a:prstGeom prst="ellipse">
            <a:avLst/>
          </a:prstGeom>
          <a:solidFill>
            <a:srgbClr val="4A0E8F"/>
          </a:solidFill>
          <a:ln/>
        </p:spPr>
      </p:sp>
      <p:sp>
        <p:nvSpPr>
          <p:cNvPr id="45" name="Text 43"/>
          <p:cNvSpPr/>
          <p:nvPr/>
        </p:nvSpPr>
        <p:spPr>
          <a:xfrm>
            <a:off x="6766560" y="41148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💰</a:t>
            </a:r>
            <a:endParaRPr lang="en-US" sz="1800" dirty="0"/>
          </a:p>
        </p:txBody>
      </p:sp>
      <p:sp>
        <p:nvSpPr>
          <p:cNvPr id="46" name="Text 44"/>
          <p:cNvSpPr/>
          <p:nvPr/>
        </p:nvSpPr>
        <p:spPr>
          <a:xfrm>
            <a:off x="7452360" y="406908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~$50–80M</a:t>
            </a:r>
            <a:endParaRPr lang="en-US" sz="2000" dirty="0"/>
          </a:p>
        </p:txBody>
      </p:sp>
      <p:sp>
        <p:nvSpPr>
          <p:cNvPr id="47" name="Text 45"/>
          <p:cNvSpPr/>
          <p:nvPr/>
        </p:nvSpPr>
        <p:spPr>
          <a:xfrm>
            <a:off x="7452360" y="448056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ANNUAL P&amp;L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6766560" y="5074920"/>
            <a:ext cx="2194560" cy="73152"/>
          </a:xfrm>
          <a:prstGeom prst="roundRect">
            <a:avLst>
              <a:gd name="adj" fmla="val 50000"/>
            </a:avLst>
          </a:prstGeom>
          <a:solidFill>
            <a:srgbClr val="374151"/>
          </a:solidFill>
          <a:ln/>
        </p:spPr>
      </p:sp>
      <p:sp>
        <p:nvSpPr>
          <p:cNvPr id="49" name="Shape 47"/>
          <p:cNvSpPr/>
          <p:nvPr/>
        </p:nvSpPr>
        <p:spPr>
          <a:xfrm>
            <a:off x="6766560" y="5074920"/>
            <a:ext cx="1426464" cy="73152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/>
        </p:spPr>
      </p:sp>
      <p:sp>
        <p:nvSpPr>
          <p:cNvPr id="50" name="Text 48"/>
          <p:cNvSpPr/>
          <p:nvPr/>
        </p:nvSpPr>
        <p:spPr>
          <a:xfrm>
            <a:off x="731520" y="594360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SUBMISSION TO GXS BANK  ·  2026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731520" y="617220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Continuum Risk Labs Pte. Ltd.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457200" y="644652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AURA  ·  CONTINUUM RISK LABS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10515600" y="644652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/ 14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06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54864" cy="29260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20040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· PROBLEM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1520" y="82296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3F4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Silos that bleed.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731520" y="1508760"/>
            <a:ext cx="6400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70 years, banking has treated credit risk and fraud risk as two distinct sciences.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handoff points between them are precisely where losses compound today.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2468880"/>
            <a:ext cx="5029200" cy="2743200"/>
          </a:xfrm>
          <a:prstGeom prst="roundRect">
            <a:avLst>
              <a:gd name="adj" fmla="val 4000"/>
            </a:avLst>
          </a:prstGeom>
          <a:solidFill>
            <a:srgbClr val="1A1330"/>
          </a:solidFill>
          <a:ln w="9525">
            <a:solidFill>
              <a:srgbClr val="4A0E8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2606040"/>
            <a:ext cx="1463040" cy="256032"/>
          </a:xfrm>
          <a:prstGeom prst="roundRect">
            <a:avLst>
              <a:gd name="adj" fmla="val 50000"/>
            </a:avLst>
          </a:prstGeom>
          <a:solidFill>
            <a:srgbClr val="4A0E8F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2606040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CREDIT TEAM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731520" y="2926080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F3F4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"Can they repay?"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822960" y="3383280"/>
            <a:ext cx="201168" cy="201168"/>
          </a:xfrm>
          <a:prstGeom prst="ellipse">
            <a:avLst/>
          </a:prstGeom>
          <a:solidFill>
            <a:srgbClr val="4A0E8F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3383280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1143000" y="3383280"/>
            <a:ext cx="4023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Static PD models · Quarterly refresh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22960" y="3767328"/>
            <a:ext cx="201168" cy="201168"/>
          </a:xfrm>
          <a:prstGeom prst="ellipse">
            <a:avLst/>
          </a:prstGeom>
          <a:solidFill>
            <a:srgbClr val="4A0E8F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3767328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1143000" y="3767328"/>
            <a:ext cx="4023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12-month horizon · Income / collateral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822960" y="4151376"/>
            <a:ext cx="201168" cy="201168"/>
          </a:xfrm>
          <a:prstGeom prst="ellipse">
            <a:avLst/>
          </a:prstGeom>
          <a:solidFill>
            <a:srgbClr val="4A0E8F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" y="4151376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1143000" y="4151376"/>
            <a:ext cx="4023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Population-level statistics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715000" y="3474720"/>
            <a:ext cx="640080" cy="54864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20" name="Shape 18"/>
          <p:cNvSpPr/>
          <p:nvPr/>
        </p:nvSpPr>
        <p:spPr>
          <a:xfrm>
            <a:off x="5715000" y="3840480"/>
            <a:ext cx="640080" cy="54864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21" name="Text 19"/>
          <p:cNvSpPr/>
          <p:nvPr/>
        </p:nvSpPr>
        <p:spPr>
          <a:xfrm>
            <a:off x="5669280" y="3017520"/>
            <a:ext cx="731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GAP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583680" y="2468880"/>
            <a:ext cx="5029200" cy="2743200"/>
          </a:xfrm>
          <a:prstGeom prst="roundRect">
            <a:avLst>
              <a:gd name="adj" fmla="val 4000"/>
            </a:avLst>
          </a:prstGeom>
          <a:solidFill>
            <a:srgbClr val="1A1330"/>
          </a:solidFill>
          <a:ln w="9525">
            <a:solidFill>
              <a:srgbClr val="EF4444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858000" y="2606040"/>
            <a:ext cx="1371600" cy="256032"/>
          </a:xfrm>
          <a:prstGeom prst="roundRect">
            <a:avLst>
              <a:gd name="adj" fmla="val 50000"/>
            </a:avLst>
          </a:prstGeom>
          <a:solidFill>
            <a:srgbClr val="EF4444"/>
          </a:solidFill>
          <a:ln/>
        </p:spPr>
      </p:sp>
      <p:sp>
        <p:nvSpPr>
          <p:cNvPr id="24" name="Text 22"/>
          <p:cNvSpPr/>
          <p:nvPr/>
        </p:nvSpPr>
        <p:spPr>
          <a:xfrm>
            <a:off x="6858000" y="2606040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FRAUD TEAM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6858000" y="2926080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F3F4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"Will they repay?"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6949440" y="3383280"/>
            <a:ext cx="201168" cy="201168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27" name="Text 25"/>
          <p:cNvSpPr/>
          <p:nvPr/>
        </p:nvSpPr>
        <p:spPr>
          <a:xfrm>
            <a:off x="6949440" y="3383280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7269480" y="3383280"/>
            <a:ext cx="4023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ML · Millisecond refresh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949440" y="3767328"/>
            <a:ext cx="201168" cy="201168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30" name="Text 28"/>
          <p:cNvSpPr/>
          <p:nvPr/>
        </p:nvSpPr>
        <p:spPr>
          <a:xfrm>
            <a:off x="6949440" y="3767328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7269480" y="3767328"/>
            <a:ext cx="4023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Next-tx horizon · Device / network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949440" y="4151376"/>
            <a:ext cx="201168" cy="201168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33" name="Text 31"/>
          <p:cNvSpPr/>
          <p:nvPr/>
        </p:nvSpPr>
        <p:spPr>
          <a:xfrm>
            <a:off x="6949440" y="4151376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7269480" y="4151376"/>
            <a:ext cx="4023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Behavioral anomaly detection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2286000" y="5486400"/>
            <a:ext cx="7589520" cy="548640"/>
          </a:xfrm>
          <a:prstGeom prst="roundRect">
            <a:avLst>
              <a:gd name="adj" fmla="val 20000"/>
            </a:avLst>
          </a:prstGeom>
          <a:solidFill>
            <a:srgbClr val="1A1330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286000" y="5486400"/>
            <a:ext cx="7589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  ~$487B  global annual fraud + credit losses at the seams — and growing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457200" y="644652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AURA  ·  CONTINUUM RISK LABS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10515600" y="644652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/ 14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06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54864" cy="29260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20040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· INSIGHT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1520" y="82296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3F4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They were never separate.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Credit default and fraud are the same phenomenon — the divergence between the customer you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underwrote and the customer revealed by their behaviour — observed at different time horizons.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914400" y="2560320"/>
            <a:ext cx="10058400" cy="36576"/>
          </a:xfrm>
          <a:prstGeom prst="rect">
            <a:avLst/>
          </a:prstGeom>
          <a:solidFill>
            <a:srgbClr val="374151"/>
          </a:solidFill>
          <a:ln/>
        </p:spPr>
      </p:sp>
      <p:sp>
        <p:nvSpPr>
          <p:cNvPr id="7" name="Shape 5"/>
          <p:cNvSpPr/>
          <p:nvPr/>
        </p:nvSpPr>
        <p:spPr>
          <a:xfrm>
            <a:off x="1280160" y="2423160"/>
            <a:ext cx="320040" cy="32004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8" name="Text 6"/>
          <p:cNvSpPr/>
          <p:nvPr/>
        </p:nvSpPr>
        <p:spPr>
          <a:xfrm>
            <a:off x="1280160" y="24231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914400" y="283464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t=0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4023360" y="2423160"/>
            <a:ext cx="320040" cy="32004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1" name="Text 9"/>
          <p:cNvSpPr/>
          <p:nvPr/>
        </p:nvSpPr>
        <p:spPr>
          <a:xfrm>
            <a:off x="4023360" y="24231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657600" y="283464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t=30d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Tx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6766560" y="2423160"/>
            <a:ext cx="320040" cy="32004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4" name="Text 12"/>
          <p:cNvSpPr/>
          <p:nvPr/>
        </p:nvSpPr>
        <p:spPr>
          <a:xfrm>
            <a:off x="6766560" y="24231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400800" y="283464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t=180d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Behaviour Shift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9509760" y="2423160"/>
            <a:ext cx="320040" cy="32004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7" name="Text 15"/>
          <p:cNvSpPr/>
          <p:nvPr/>
        </p:nvSpPr>
        <p:spPr>
          <a:xfrm>
            <a:off x="9509760" y="24231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9144000" y="283464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t=365d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Default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731520" y="3383280"/>
            <a:ext cx="2286000" cy="274320"/>
          </a:xfrm>
          <a:prstGeom prst="roundRect">
            <a:avLst>
              <a:gd name="adj" fmla="val 50000"/>
            </a:avLst>
          </a:prstGeom>
          <a:solidFill>
            <a:srgbClr val="EF4444">
              <a:alpha val="30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731520" y="338328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FRAUD TELESCOPE</a:t>
            </a:r>
            <a:endParaRPr lang="en-US" sz="700" dirty="0"/>
          </a:p>
        </p:txBody>
      </p:sp>
      <p:sp>
        <p:nvSpPr>
          <p:cNvPr id="21" name="Shape 19"/>
          <p:cNvSpPr/>
          <p:nvPr/>
        </p:nvSpPr>
        <p:spPr>
          <a:xfrm>
            <a:off x="3840480" y="3383280"/>
            <a:ext cx="4572000" cy="274320"/>
          </a:xfrm>
          <a:prstGeom prst="roundRect">
            <a:avLst>
              <a:gd name="adj" fmla="val 50000"/>
            </a:avLst>
          </a:prstGeom>
          <a:solidFill>
            <a:srgbClr val="4A0E8F">
              <a:alpha val="30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3840480" y="33832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CREDIT TELESCOPE</a:t>
            </a:r>
            <a:endParaRPr lang="en-US" sz="700" dirty="0"/>
          </a:p>
        </p:txBody>
      </p:sp>
      <p:sp>
        <p:nvSpPr>
          <p:cNvPr id="23" name="Shape 21"/>
          <p:cNvSpPr/>
          <p:nvPr/>
        </p:nvSpPr>
        <p:spPr>
          <a:xfrm>
            <a:off x="731520" y="3794760"/>
            <a:ext cx="10515600" cy="274320"/>
          </a:xfrm>
          <a:prstGeom prst="roundRect">
            <a:avLst>
              <a:gd name="adj" fmla="val 50000"/>
            </a:avLst>
          </a:prstGeom>
          <a:solidFill>
            <a:srgbClr val="10B981">
              <a:alpha val="30000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731520" y="379476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✦  AURA — BOTH TELESCOPES, ONE MODEL</a:t>
            </a:r>
            <a:endParaRPr lang="en-US" sz="8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4297680"/>
          <a:ext cx="1069848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795528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TODAY'S LABEL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0E8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WHAT IT ACTUALLY IS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0E8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3F4F6"/>
                          </a:solidFill>
                        </a:rPr>
                        <a:t>Credit default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0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3F4F6"/>
                          </a:solidFill>
                        </a:rPr>
                        <a:t>A fraud that took 18 months to reveal itself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02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3F4F6"/>
                          </a:solidFill>
                        </a:rPr>
                        <a:t>Bust-out fraud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3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3F4F6"/>
                          </a:solidFill>
                        </a:rPr>
                        <a:t>A credit default compressed into 30 days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330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3F4F6"/>
                          </a:solidFill>
                        </a:rPr>
                        <a:t>Application fraud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0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3F4F6"/>
                          </a:solidFill>
                        </a:rPr>
                        <a:t>A credit model that was lied to at t=0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02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3F4F6"/>
                          </a:solidFill>
                        </a:rPr>
                        <a:t>Transaction fraud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3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3F4F6"/>
                          </a:solidFill>
                        </a:rPr>
                        <a:t>A creditworthiness event in 30 seconds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330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3F4F6"/>
                          </a:solidFill>
                        </a:rPr>
                        <a:t>Strategic default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0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3F4F6"/>
                          </a:solidFill>
                        </a:rPr>
                        <a:t>A credit customer who became first-party fraud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02A"/>
                    </a:solidFill>
                  </a:tcPr>
                </a:tc>
              </a:tr>
            </a:tbl>
          </a:graphicData>
        </a:graphic>
      </p:graphicFrame>
      <p:sp>
        <p:nvSpPr>
          <p:cNvPr id="26" name="Text 23"/>
          <p:cNvSpPr/>
          <p:nvPr/>
        </p:nvSpPr>
        <p:spPr>
          <a:xfrm>
            <a:off x="457200" y="644652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AURA  ·  CONTINUUM RISK LABS</a:t>
            </a:r>
            <a:endParaRPr lang="en-US" sz="800" dirty="0"/>
          </a:p>
        </p:txBody>
      </p:sp>
      <p:sp>
        <p:nvSpPr>
          <p:cNvPr id="27" name="Text 24"/>
          <p:cNvSpPr/>
          <p:nvPr/>
        </p:nvSpPr>
        <p:spPr>
          <a:xfrm>
            <a:off x="10515600" y="644652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/ 14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06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54864" cy="29260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20040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· SOLUTION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1520" y="822960"/>
            <a:ext cx="9144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F3F4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model. Two telescopes.</a:t>
            </a:r>
            <a:endParaRPr lang="en-US" sz="3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F3F4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living immune system.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029200" y="2286000"/>
            <a:ext cx="2103120" cy="2103120"/>
          </a:xfrm>
          <a:prstGeom prst="ellipse">
            <a:avLst/>
          </a:prstGeom>
          <a:solidFill>
            <a:srgbClr val="4A0E8F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0" y="2286000"/>
            <a:ext cx="210312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256-dim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Embedding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097280" y="2377440"/>
            <a:ext cx="2560320" cy="1463040"/>
          </a:xfrm>
          <a:prstGeom prst="roundRect">
            <a:avLst>
              <a:gd name="adj" fmla="val 7500"/>
            </a:avLst>
          </a:prstGeom>
          <a:solidFill>
            <a:srgbClr val="1A1330"/>
          </a:solidFill>
          <a:ln w="9525">
            <a:solidFill>
              <a:srgbClr val="7C3AE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234440" y="2514600"/>
            <a:ext cx="457200" cy="45720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9" name="Text 7"/>
          <p:cNvSpPr/>
          <p:nvPr/>
        </p:nvSpPr>
        <p:spPr>
          <a:xfrm>
            <a:off x="1234440" y="25146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👤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783080" y="2468880"/>
            <a:ext cx="1737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F3F4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DOPPEL-</a:t>
            </a:r>
            <a:endParaRPr lang="en-US" sz="11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F3F4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GÄNGER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234440" y="315468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Generative twin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streams residuals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657600" y="3108960"/>
            <a:ext cx="2423160" cy="228600"/>
          </a:xfrm>
          <a:prstGeom prst="line">
            <a:avLst/>
          </a:prstGeom>
          <a:noFill/>
          <a:ln w="12700">
            <a:solidFill>
              <a:srgbClr val="7C3AED"/>
            </a:solidFill>
            <a:prstDash val="dash"/>
          </a:ln>
        </p:spPr>
      </p:sp>
      <p:sp>
        <p:nvSpPr>
          <p:cNvPr id="13" name="Shape 11"/>
          <p:cNvSpPr/>
          <p:nvPr/>
        </p:nvSpPr>
        <p:spPr>
          <a:xfrm>
            <a:off x="8686800" y="2377440"/>
            <a:ext cx="2560320" cy="1463040"/>
          </a:xfrm>
          <a:prstGeom prst="roundRect">
            <a:avLst>
              <a:gd name="adj" fmla="val 7500"/>
            </a:avLst>
          </a:prstGeom>
          <a:solidFill>
            <a:srgbClr val="1A1330"/>
          </a:solidFill>
          <a:ln w="9525">
            <a:solidFill>
              <a:srgbClr val="A78BF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823960" y="2514600"/>
            <a:ext cx="457200" cy="457200"/>
          </a:xfrm>
          <a:prstGeom prst="ellipse">
            <a:avLst/>
          </a:prstGeom>
          <a:solidFill>
            <a:srgbClr val="A78BFA"/>
          </a:solidFill>
          <a:ln/>
        </p:spPr>
      </p:sp>
      <p:sp>
        <p:nvSpPr>
          <p:cNvPr id="15" name="Text 13"/>
          <p:cNvSpPr/>
          <p:nvPr/>
        </p:nvSpPr>
        <p:spPr>
          <a:xfrm>
            <a:off x="8823960" y="25146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🧬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9372600" y="2468880"/>
            <a:ext cx="1737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F3F4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TWIN</a:t>
            </a:r>
            <a:endParaRPr lang="en-US" sz="11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F3F4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STRANDS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823960" y="315468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Capacity × Intent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readouts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8686800" y="3108960"/>
            <a:ext cx="-2606040" cy="228600"/>
          </a:xfrm>
          <a:prstGeom prst="line">
            <a:avLst/>
          </a:prstGeom>
          <a:noFill/>
          <a:ln w="12700">
            <a:solidFill>
              <a:srgbClr val="A78BFA"/>
            </a:solidFill>
            <a:prstDash val="dash"/>
          </a:ln>
        </p:spPr>
      </p:sp>
      <p:sp>
        <p:nvSpPr>
          <p:cNvPr id="19" name="Shape 17"/>
          <p:cNvSpPr/>
          <p:nvPr/>
        </p:nvSpPr>
        <p:spPr>
          <a:xfrm>
            <a:off x="1097280" y="4389120"/>
            <a:ext cx="2560320" cy="1463040"/>
          </a:xfrm>
          <a:prstGeom prst="roundRect">
            <a:avLst>
              <a:gd name="adj" fmla="val 7500"/>
            </a:avLst>
          </a:prstGeom>
          <a:solidFill>
            <a:srgbClr val="1A1330"/>
          </a:solidFill>
          <a:ln w="9525">
            <a:solidFill>
              <a:srgbClr val="F59E0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234440" y="4526280"/>
            <a:ext cx="457200" cy="45720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21" name="Text 19"/>
          <p:cNvSpPr/>
          <p:nvPr/>
        </p:nvSpPr>
        <p:spPr>
          <a:xfrm>
            <a:off x="1234440" y="45262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🔭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783080" y="4480560"/>
            <a:ext cx="1737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F3F4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</a:t>
            </a:r>
            <a:endParaRPr lang="en-US" sz="11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F3F4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TELESCOPES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234440" y="516636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 / days /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months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657600" y="5120640"/>
            <a:ext cx="2423160" cy="-1783080"/>
          </a:xfrm>
          <a:prstGeom prst="line">
            <a:avLst/>
          </a:prstGeom>
          <a:noFill/>
          <a:ln w="12700">
            <a:solidFill>
              <a:srgbClr val="F59E0B"/>
            </a:solidFill>
            <a:prstDash val="dash"/>
          </a:ln>
        </p:spPr>
      </p:sp>
      <p:sp>
        <p:nvSpPr>
          <p:cNvPr id="25" name="Shape 23"/>
          <p:cNvSpPr/>
          <p:nvPr/>
        </p:nvSpPr>
        <p:spPr>
          <a:xfrm>
            <a:off x="8686800" y="4389120"/>
            <a:ext cx="2560320" cy="1463040"/>
          </a:xfrm>
          <a:prstGeom prst="roundRect">
            <a:avLst>
              <a:gd name="adj" fmla="val 7500"/>
            </a:avLst>
          </a:prstGeom>
          <a:solidFill>
            <a:srgbClr val="1A1330"/>
          </a:solidFill>
          <a:ln w="9525">
            <a:solidFill>
              <a:srgbClr val="EF4444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823960" y="4526280"/>
            <a:ext cx="457200" cy="45720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27" name="Text 25"/>
          <p:cNvSpPr/>
          <p:nvPr/>
        </p:nvSpPr>
        <p:spPr>
          <a:xfrm>
            <a:off x="8823960" y="45262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⚔️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9372600" y="4480560"/>
            <a:ext cx="1737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F3F4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ARENA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8823960" y="516636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Adversarial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agents attack 24/7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8686800" y="5120640"/>
            <a:ext cx="-2606040" cy="-1783080"/>
          </a:xfrm>
          <a:prstGeom prst="line">
            <a:avLst/>
          </a:prstGeom>
          <a:noFill/>
          <a:ln w="12700">
            <a:solidFill>
              <a:srgbClr val="EF4444"/>
            </a:solidFill>
            <a:prstDash val="dash"/>
          </a:ln>
        </p:spPr>
      </p:sp>
      <p:sp>
        <p:nvSpPr>
          <p:cNvPr id="31" name="Shape 29"/>
          <p:cNvSpPr/>
          <p:nvPr/>
        </p:nvSpPr>
        <p:spPr>
          <a:xfrm>
            <a:off x="3200400" y="5943600"/>
            <a:ext cx="5760720" cy="411480"/>
          </a:xfrm>
          <a:prstGeom prst="roundRect">
            <a:avLst>
              <a:gd name="adj" fmla="val 26667"/>
            </a:avLst>
          </a:prstGeom>
          <a:solidFill>
            <a:srgbClr val="0F1A0F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200400" y="5943600"/>
            <a:ext cx="5760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Layers 1–5 = Spine  ·  Layers 6–8 = Immune System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57200" y="644652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AURA  ·  CONTINUUM RISK LABS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10515600" y="644652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/ 14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06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54864" cy="29260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20040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· ARCHITECTURE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1520" y="82296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3F4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Eight tightly-coupled layers.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508760"/>
            <a:ext cx="6858000" cy="475488"/>
          </a:xfrm>
          <a:prstGeom prst="roundRect">
            <a:avLst>
              <a:gd name="adj" fmla="val 11538"/>
            </a:avLst>
          </a:prstGeom>
          <a:solidFill>
            <a:srgbClr val="15102A"/>
          </a:solidFill>
          <a:ln w="9525">
            <a:solidFill>
              <a:srgbClr val="4A0E8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" y="1563624"/>
            <a:ext cx="365760" cy="365760"/>
          </a:xfrm>
          <a:prstGeom prst="ellipse">
            <a:avLst/>
          </a:prstGeom>
          <a:solidFill>
            <a:srgbClr val="A78BFA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156362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97280" y="1508760"/>
            <a:ext cx="29260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3F4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Unified Risk Embedding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114800" y="1508760"/>
            <a:ext cx="2743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256-dim global latent space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6537960" y="1618488"/>
            <a:ext cx="914400" cy="256032"/>
          </a:xfrm>
          <a:prstGeom prst="roundRect">
            <a:avLst>
              <a:gd name="adj" fmla="val 50000"/>
            </a:avLst>
          </a:prstGeom>
          <a:solidFill>
            <a:srgbClr val="4A0E8F"/>
          </a:solidFill>
          <a:ln/>
        </p:spPr>
      </p:sp>
      <p:sp>
        <p:nvSpPr>
          <p:cNvPr id="11" name="Text 9"/>
          <p:cNvSpPr/>
          <p:nvPr/>
        </p:nvSpPr>
        <p:spPr>
          <a:xfrm>
            <a:off x="6537960" y="1618488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SPINE</a:t>
            </a:r>
            <a:endParaRPr lang="en-US" sz="700" dirty="0"/>
          </a:p>
        </p:txBody>
      </p:sp>
      <p:sp>
        <p:nvSpPr>
          <p:cNvPr id="12" name="Shape 10"/>
          <p:cNvSpPr/>
          <p:nvPr/>
        </p:nvSpPr>
        <p:spPr>
          <a:xfrm>
            <a:off x="457200" y="2057400"/>
            <a:ext cx="6858000" cy="475488"/>
          </a:xfrm>
          <a:prstGeom prst="roundRect">
            <a:avLst>
              <a:gd name="adj" fmla="val 11538"/>
            </a:avLst>
          </a:prstGeom>
          <a:solidFill>
            <a:srgbClr val="15102A"/>
          </a:solidFill>
          <a:ln w="9525">
            <a:solidFill>
              <a:srgbClr val="4A0E8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94360" y="2112264"/>
            <a:ext cx="365760" cy="365760"/>
          </a:xfrm>
          <a:prstGeom prst="ellipse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/>
          <p:nvPr/>
        </p:nvSpPr>
        <p:spPr>
          <a:xfrm>
            <a:off x="594360" y="211226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097280" y="2057400"/>
            <a:ext cx="29260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3F4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Personal Doppelgänger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114800" y="2057400"/>
            <a:ext cx="2743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Per-customer generative twin · residual streamer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537960" y="2167128"/>
            <a:ext cx="914400" cy="256032"/>
          </a:xfrm>
          <a:prstGeom prst="roundRect">
            <a:avLst>
              <a:gd name="adj" fmla="val 50000"/>
            </a:avLst>
          </a:prstGeom>
          <a:solidFill>
            <a:srgbClr val="4A0E8F"/>
          </a:solidFill>
          <a:ln/>
        </p:spPr>
      </p:sp>
      <p:sp>
        <p:nvSpPr>
          <p:cNvPr id="18" name="Text 16"/>
          <p:cNvSpPr/>
          <p:nvPr/>
        </p:nvSpPr>
        <p:spPr>
          <a:xfrm>
            <a:off x="6537960" y="2167128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SPINE</a:t>
            </a:r>
            <a:endParaRPr lang="en-US" sz="700" dirty="0"/>
          </a:p>
        </p:txBody>
      </p:sp>
      <p:sp>
        <p:nvSpPr>
          <p:cNvPr id="19" name="Shape 17"/>
          <p:cNvSpPr/>
          <p:nvPr/>
        </p:nvSpPr>
        <p:spPr>
          <a:xfrm>
            <a:off x="457200" y="2606040"/>
            <a:ext cx="6858000" cy="475488"/>
          </a:xfrm>
          <a:prstGeom prst="roundRect">
            <a:avLst>
              <a:gd name="adj" fmla="val 11538"/>
            </a:avLst>
          </a:prstGeom>
          <a:solidFill>
            <a:srgbClr val="15102A"/>
          </a:solidFill>
          <a:ln w="9525">
            <a:solidFill>
              <a:srgbClr val="4A0E8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94360" y="2660904"/>
            <a:ext cx="365760" cy="365760"/>
          </a:xfrm>
          <a:prstGeom prst="ellipse">
            <a:avLst/>
          </a:prstGeom>
          <a:solidFill>
            <a:srgbClr val="A78BFA"/>
          </a:solidFill>
          <a:ln/>
        </p:spPr>
      </p:sp>
      <p:sp>
        <p:nvSpPr>
          <p:cNvPr id="21" name="Text 19"/>
          <p:cNvSpPr/>
          <p:nvPr/>
        </p:nvSpPr>
        <p:spPr>
          <a:xfrm>
            <a:off x="594360" y="266090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097280" y="2606040"/>
            <a:ext cx="29260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3F4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Twin Strands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114800" y="2606040"/>
            <a:ext cx="2743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decoupled readouts: Capacity × Intent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6537960" y="2715768"/>
            <a:ext cx="914400" cy="256032"/>
          </a:xfrm>
          <a:prstGeom prst="roundRect">
            <a:avLst>
              <a:gd name="adj" fmla="val 50000"/>
            </a:avLst>
          </a:prstGeom>
          <a:solidFill>
            <a:srgbClr val="4A0E8F"/>
          </a:solidFill>
          <a:ln/>
        </p:spPr>
      </p:sp>
      <p:sp>
        <p:nvSpPr>
          <p:cNvPr id="25" name="Text 23"/>
          <p:cNvSpPr/>
          <p:nvPr/>
        </p:nvSpPr>
        <p:spPr>
          <a:xfrm>
            <a:off x="6537960" y="2715768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SPINE</a:t>
            </a:r>
            <a:endParaRPr lang="en-US" sz="700" dirty="0"/>
          </a:p>
        </p:txBody>
      </p:sp>
      <p:sp>
        <p:nvSpPr>
          <p:cNvPr id="26" name="Shape 24"/>
          <p:cNvSpPr/>
          <p:nvPr/>
        </p:nvSpPr>
        <p:spPr>
          <a:xfrm>
            <a:off x="457200" y="3154680"/>
            <a:ext cx="6858000" cy="475488"/>
          </a:xfrm>
          <a:prstGeom prst="roundRect">
            <a:avLst>
              <a:gd name="adj" fmla="val 11538"/>
            </a:avLst>
          </a:prstGeom>
          <a:solidFill>
            <a:srgbClr val="15102A"/>
          </a:solidFill>
          <a:ln w="9525">
            <a:solidFill>
              <a:srgbClr val="4A0E8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94360" y="3209544"/>
            <a:ext cx="365760" cy="365760"/>
          </a:xfrm>
          <a:prstGeom prst="ellipse">
            <a:avLst/>
          </a:prstGeom>
          <a:solidFill>
            <a:srgbClr val="A78BFA"/>
          </a:solidFill>
          <a:ln/>
        </p:spPr>
      </p:sp>
      <p:sp>
        <p:nvSpPr>
          <p:cNvPr id="28" name="Text 26"/>
          <p:cNvSpPr/>
          <p:nvPr/>
        </p:nvSpPr>
        <p:spPr>
          <a:xfrm>
            <a:off x="594360" y="320954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1097280" y="3154680"/>
            <a:ext cx="29260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3F4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Time-Telescope Heads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114800" y="3154680"/>
            <a:ext cx="2743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spike (sec) / shift (days) / drift (months)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6537960" y="3264408"/>
            <a:ext cx="914400" cy="256032"/>
          </a:xfrm>
          <a:prstGeom prst="roundRect">
            <a:avLst>
              <a:gd name="adj" fmla="val 50000"/>
            </a:avLst>
          </a:prstGeom>
          <a:solidFill>
            <a:srgbClr val="4A0E8F"/>
          </a:solidFill>
          <a:ln/>
        </p:spPr>
      </p:sp>
      <p:sp>
        <p:nvSpPr>
          <p:cNvPr id="32" name="Text 30"/>
          <p:cNvSpPr/>
          <p:nvPr/>
        </p:nvSpPr>
        <p:spPr>
          <a:xfrm>
            <a:off x="6537960" y="3264408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SPINE</a:t>
            </a:r>
            <a:endParaRPr lang="en-US" sz="700" dirty="0"/>
          </a:p>
        </p:txBody>
      </p:sp>
      <p:sp>
        <p:nvSpPr>
          <p:cNvPr id="33" name="Shape 31"/>
          <p:cNvSpPr/>
          <p:nvPr/>
        </p:nvSpPr>
        <p:spPr>
          <a:xfrm>
            <a:off x="457200" y="3703320"/>
            <a:ext cx="6858000" cy="475488"/>
          </a:xfrm>
          <a:prstGeom prst="roundRect">
            <a:avLst>
              <a:gd name="adj" fmla="val 11538"/>
            </a:avLst>
          </a:prstGeom>
          <a:solidFill>
            <a:srgbClr val="15102A"/>
          </a:solidFill>
          <a:ln w="9525">
            <a:solidFill>
              <a:srgbClr val="4A0E8F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94360" y="3758184"/>
            <a:ext cx="365760" cy="365760"/>
          </a:xfrm>
          <a:prstGeom prst="ellipse">
            <a:avLst/>
          </a:prstGeom>
          <a:solidFill>
            <a:srgbClr val="A78BFA"/>
          </a:solidFill>
          <a:ln/>
        </p:spPr>
      </p:sp>
      <p:sp>
        <p:nvSpPr>
          <p:cNvPr id="35" name="Text 33"/>
          <p:cNvSpPr/>
          <p:nvPr/>
        </p:nvSpPr>
        <p:spPr>
          <a:xfrm>
            <a:off x="594360" y="375818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1097280" y="3703320"/>
            <a:ext cx="29260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3F4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Counterfactual Replay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4114800" y="3703320"/>
            <a:ext cx="2743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Doubly-robust causal estimation on decisions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6537960" y="3813048"/>
            <a:ext cx="914400" cy="256032"/>
          </a:xfrm>
          <a:prstGeom prst="roundRect">
            <a:avLst>
              <a:gd name="adj" fmla="val 50000"/>
            </a:avLst>
          </a:prstGeom>
          <a:solidFill>
            <a:srgbClr val="4A0E8F"/>
          </a:solidFill>
          <a:ln/>
        </p:spPr>
      </p:sp>
      <p:sp>
        <p:nvSpPr>
          <p:cNvPr id="39" name="Text 37"/>
          <p:cNvSpPr/>
          <p:nvPr/>
        </p:nvSpPr>
        <p:spPr>
          <a:xfrm>
            <a:off x="6537960" y="3813048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SPINE</a:t>
            </a:r>
            <a:endParaRPr lang="en-US" sz="700" dirty="0"/>
          </a:p>
        </p:txBody>
      </p:sp>
      <p:sp>
        <p:nvSpPr>
          <p:cNvPr id="40" name="Shape 38"/>
          <p:cNvSpPr/>
          <p:nvPr/>
        </p:nvSpPr>
        <p:spPr>
          <a:xfrm>
            <a:off x="457200" y="4251960"/>
            <a:ext cx="6858000" cy="475488"/>
          </a:xfrm>
          <a:prstGeom prst="roundRect">
            <a:avLst>
              <a:gd name="adj" fmla="val 11538"/>
            </a:avLst>
          </a:prstGeom>
          <a:solidFill>
            <a:srgbClr val="1C0F2E"/>
          </a:solidFill>
          <a:ln w="9525">
            <a:solidFill>
              <a:srgbClr val="7C3AED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594360" y="4306824"/>
            <a:ext cx="365760" cy="36576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42" name="Text 40"/>
          <p:cNvSpPr/>
          <p:nvPr/>
        </p:nvSpPr>
        <p:spPr>
          <a:xfrm>
            <a:off x="594360" y="430682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1097280" y="4251960"/>
            <a:ext cx="29260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3F4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Arena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4114800" y="4251960"/>
            <a:ext cx="2743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Adversarial agents attack live system in shadow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6537960" y="4361688"/>
            <a:ext cx="1005840" cy="256032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/>
        </p:spPr>
      </p:sp>
      <p:sp>
        <p:nvSpPr>
          <p:cNvPr id="46" name="Text 44"/>
          <p:cNvSpPr/>
          <p:nvPr/>
        </p:nvSpPr>
        <p:spPr>
          <a:xfrm>
            <a:off x="6537960" y="4361688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IMMUNE</a:t>
            </a:r>
            <a:endParaRPr lang="en-US" sz="700" dirty="0"/>
          </a:p>
        </p:txBody>
      </p:sp>
      <p:sp>
        <p:nvSpPr>
          <p:cNvPr id="47" name="Shape 45"/>
          <p:cNvSpPr/>
          <p:nvPr/>
        </p:nvSpPr>
        <p:spPr>
          <a:xfrm>
            <a:off x="457200" y="4800600"/>
            <a:ext cx="6858000" cy="475488"/>
          </a:xfrm>
          <a:prstGeom prst="roundRect">
            <a:avLst>
              <a:gd name="adj" fmla="val 11538"/>
            </a:avLst>
          </a:prstGeom>
          <a:solidFill>
            <a:srgbClr val="1C0F2E"/>
          </a:solidFill>
          <a:ln w="9525">
            <a:solidFill>
              <a:srgbClr val="7C3AED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594360" y="4855464"/>
            <a:ext cx="365760" cy="36576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49" name="Text 47"/>
          <p:cNvSpPr/>
          <p:nvPr/>
        </p:nvSpPr>
        <p:spPr>
          <a:xfrm>
            <a:off x="594360" y="485546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1097280" y="4800600"/>
            <a:ext cx="29260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3F4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Field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4114800" y="4800600"/>
            <a:ext cx="2743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Graph contagion across devices, merchants, geographies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6537960" y="4910328"/>
            <a:ext cx="1005840" cy="256032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/>
        </p:spPr>
      </p:sp>
      <p:sp>
        <p:nvSpPr>
          <p:cNvPr id="53" name="Text 51"/>
          <p:cNvSpPr/>
          <p:nvPr/>
        </p:nvSpPr>
        <p:spPr>
          <a:xfrm>
            <a:off x="6537960" y="4910328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IMMUNE</a:t>
            </a:r>
            <a:endParaRPr lang="en-US" sz="700" dirty="0"/>
          </a:p>
        </p:txBody>
      </p:sp>
      <p:sp>
        <p:nvSpPr>
          <p:cNvPr id="54" name="Shape 52"/>
          <p:cNvSpPr/>
          <p:nvPr/>
        </p:nvSpPr>
        <p:spPr>
          <a:xfrm>
            <a:off x="457200" y="5349240"/>
            <a:ext cx="6858000" cy="475488"/>
          </a:xfrm>
          <a:prstGeom prst="roundRect">
            <a:avLst>
              <a:gd name="adj" fmla="val 11538"/>
            </a:avLst>
          </a:prstGeom>
          <a:solidFill>
            <a:srgbClr val="1C0F2E"/>
          </a:solidFill>
          <a:ln w="9525">
            <a:solidFill>
              <a:srgbClr val="7C3AED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594360" y="5404104"/>
            <a:ext cx="365760" cy="36576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56" name="Text 54"/>
          <p:cNvSpPr/>
          <p:nvPr/>
        </p:nvSpPr>
        <p:spPr>
          <a:xfrm>
            <a:off x="594360" y="540410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100" dirty="0"/>
          </a:p>
        </p:txBody>
      </p:sp>
      <p:sp>
        <p:nvSpPr>
          <p:cNvPr id="57" name="Text 55"/>
          <p:cNvSpPr/>
          <p:nvPr/>
        </p:nvSpPr>
        <p:spPr>
          <a:xfrm>
            <a:off x="1097280" y="5349240"/>
            <a:ext cx="29260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3F4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 Layer</a:t>
            </a:r>
            <a:endParaRPr lang="en-US" sz="1100" dirty="0"/>
          </a:p>
        </p:txBody>
      </p:sp>
      <p:sp>
        <p:nvSpPr>
          <p:cNvPr id="58" name="Text 56"/>
          <p:cNvSpPr/>
          <p:nvPr/>
        </p:nvSpPr>
        <p:spPr>
          <a:xfrm>
            <a:off x="4114800" y="5349240"/>
            <a:ext cx="2743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nudge → friction → reprice → interdict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6537960" y="5458968"/>
            <a:ext cx="1005840" cy="256032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/>
        </p:spPr>
      </p:sp>
      <p:sp>
        <p:nvSpPr>
          <p:cNvPr id="60" name="Text 58"/>
          <p:cNvSpPr/>
          <p:nvPr/>
        </p:nvSpPr>
        <p:spPr>
          <a:xfrm>
            <a:off x="6537960" y="5458968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IMMUNE</a:t>
            </a:r>
            <a:endParaRPr lang="en-US" sz="700" dirty="0"/>
          </a:p>
        </p:txBody>
      </p:sp>
      <p:sp>
        <p:nvSpPr>
          <p:cNvPr id="61" name="Shape 59"/>
          <p:cNvSpPr/>
          <p:nvPr/>
        </p:nvSpPr>
        <p:spPr>
          <a:xfrm>
            <a:off x="7772400" y="1508760"/>
            <a:ext cx="3931920" cy="4663440"/>
          </a:xfrm>
          <a:prstGeom prst="roundRect">
            <a:avLst>
              <a:gd name="adj" fmla="val 2791"/>
            </a:avLst>
          </a:prstGeom>
          <a:solidFill>
            <a:srgbClr val="1A1330"/>
          </a:solidFill>
          <a:ln w="9525">
            <a:solidFill>
              <a:srgbClr val="7C3AED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7772400" y="155448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VIEW</a:t>
            </a:r>
            <a:endParaRPr lang="en-US" sz="900" dirty="0"/>
          </a:p>
        </p:txBody>
      </p:sp>
      <p:sp>
        <p:nvSpPr>
          <p:cNvPr id="63" name="Shape 61"/>
          <p:cNvSpPr/>
          <p:nvPr/>
        </p:nvSpPr>
        <p:spPr>
          <a:xfrm>
            <a:off x="8001000" y="2011680"/>
            <a:ext cx="3474720" cy="365760"/>
          </a:xfrm>
          <a:prstGeom prst="roundRect">
            <a:avLst>
              <a:gd name="adj" fmla="val 15000"/>
            </a:avLst>
          </a:prstGeom>
          <a:solidFill>
            <a:srgbClr val="A78BFA">
              <a:alpha val="60000"/>
            </a:srgbClr>
          </a:solidFill>
          <a:ln w="6350">
            <a:solidFill>
              <a:srgbClr val="A78BFA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8069580" y="2514600"/>
            <a:ext cx="3337560" cy="365760"/>
          </a:xfrm>
          <a:prstGeom prst="roundRect">
            <a:avLst>
              <a:gd name="adj" fmla="val 15000"/>
            </a:avLst>
          </a:prstGeom>
          <a:solidFill>
            <a:srgbClr val="A78BFA">
              <a:alpha val="55000"/>
            </a:srgbClr>
          </a:solidFill>
          <a:ln w="6350">
            <a:solidFill>
              <a:srgbClr val="A78BFA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8138160" y="3017520"/>
            <a:ext cx="3200400" cy="365760"/>
          </a:xfrm>
          <a:prstGeom prst="roundRect">
            <a:avLst>
              <a:gd name="adj" fmla="val 15000"/>
            </a:avLst>
          </a:prstGeom>
          <a:solidFill>
            <a:srgbClr val="A78BFA">
              <a:alpha val="50000"/>
            </a:srgbClr>
          </a:solidFill>
          <a:ln w="6350">
            <a:solidFill>
              <a:srgbClr val="A78BFA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8206740" y="3520440"/>
            <a:ext cx="3063240" cy="365760"/>
          </a:xfrm>
          <a:prstGeom prst="roundRect">
            <a:avLst>
              <a:gd name="adj" fmla="val 15000"/>
            </a:avLst>
          </a:prstGeom>
          <a:solidFill>
            <a:srgbClr val="A78BFA">
              <a:alpha val="45000"/>
            </a:srgbClr>
          </a:solidFill>
          <a:ln w="6350">
            <a:solidFill>
              <a:srgbClr val="A78BFA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8275320" y="4023360"/>
            <a:ext cx="2926080" cy="365760"/>
          </a:xfrm>
          <a:prstGeom prst="roundRect">
            <a:avLst>
              <a:gd name="adj" fmla="val 15000"/>
            </a:avLst>
          </a:prstGeom>
          <a:solidFill>
            <a:srgbClr val="A78BFA">
              <a:alpha val="40000"/>
            </a:srgbClr>
          </a:solidFill>
          <a:ln w="6350">
            <a:solidFill>
              <a:srgbClr val="A78BFA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8343900" y="4526280"/>
            <a:ext cx="2788920" cy="365760"/>
          </a:xfrm>
          <a:prstGeom prst="roundRect">
            <a:avLst>
              <a:gd name="adj" fmla="val 15000"/>
            </a:avLst>
          </a:prstGeom>
          <a:solidFill>
            <a:srgbClr val="7C3AED">
              <a:alpha val="35000"/>
            </a:srgbClr>
          </a:solidFill>
          <a:ln w="6350">
            <a:solidFill>
              <a:srgbClr val="7C3AED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8412480" y="5029200"/>
            <a:ext cx="2651760" cy="365760"/>
          </a:xfrm>
          <a:prstGeom prst="roundRect">
            <a:avLst>
              <a:gd name="adj" fmla="val 15000"/>
            </a:avLst>
          </a:prstGeom>
          <a:solidFill>
            <a:srgbClr val="7C3AED">
              <a:alpha val="30000"/>
            </a:srgbClr>
          </a:solidFill>
          <a:ln w="6350">
            <a:solidFill>
              <a:srgbClr val="7C3AED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8481060" y="5532120"/>
            <a:ext cx="2514600" cy="365760"/>
          </a:xfrm>
          <a:prstGeom prst="roundRect">
            <a:avLst>
              <a:gd name="adj" fmla="val 15000"/>
            </a:avLst>
          </a:prstGeom>
          <a:solidFill>
            <a:srgbClr val="7C3AED">
              <a:alpha val="25000"/>
            </a:srgbClr>
          </a:solidFill>
          <a:ln w="6350">
            <a:solidFill>
              <a:srgbClr val="7C3AED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7772400" y="585216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Continuum Spine</a:t>
            </a:r>
            <a:endParaRPr lang="en-US" sz="800" dirty="0"/>
          </a:p>
        </p:txBody>
      </p:sp>
      <p:sp>
        <p:nvSpPr>
          <p:cNvPr id="72" name="Text 70"/>
          <p:cNvSpPr/>
          <p:nvPr/>
        </p:nvSpPr>
        <p:spPr>
          <a:xfrm>
            <a:off x="9875520" y="585216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Adaptive Immune System</a:t>
            </a:r>
            <a:endParaRPr lang="en-US" sz="800" dirty="0"/>
          </a:p>
        </p:txBody>
      </p:sp>
      <p:sp>
        <p:nvSpPr>
          <p:cNvPr id="73" name="Text 71"/>
          <p:cNvSpPr/>
          <p:nvPr/>
        </p:nvSpPr>
        <p:spPr>
          <a:xfrm>
            <a:off x="457200" y="644652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AURA  ·  CONTINUUM RISK LABS</a:t>
            </a:r>
            <a:endParaRPr lang="en-US" sz="800" dirty="0"/>
          </a:p>
        </p:txBody>
      </p:sp>
      <p:sp>
        <p:nvSpPr>
          <p:cNvPr id="74" name="Text 72"/>
          <p:cNvSpPr/>
          <p:nvPr/>
        </p:nvSpPr>
        <p:spPr>
          <a:xfrm>
            <a:off x="10515600" y="644652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/ 14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06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54864" cy="29260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20040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· BREAKTHROUGH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1520" y="82296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3F4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Doppelgänger + Arena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5486400" cy="4572000"/>
          </a:xfrm>
          <a:prstGeom prst="roundRect">
            <a:avLst>
              <a:gd name="adj" fmla="val 2400"/>
            </a:avLst>
          </a:prstGeom>
          <a:solidFill>
            <a:srgbClr val="1A1330"/>
          </a:solidFill>
          <a:ln w="9525">
            <a:solidFill>
              <a:srgbClr val="7C3AE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1691640"/>
            <a:ext cx="1188720" cy="256032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691640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 02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731520" y="201168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3F4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Personal Doppelgänger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31520" y="2468880"/>
            <a:ext cx="4937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self-supervised generative twin per customer. Continuously predicts their next state and streams the residuals — where reality diverges from expectation.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31520" y="3200400"/>
            <a:ext cx="4937760" cy="1828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1" name="Shape 9"/>
          <p:cNvSpPr/>
          <p:nvPr/>
        </p:nvSpPr>
        <p:spPr>
          <a:xfrm>
            <a:off x="731520" y="3383280"/>
            <a:ext cx="4937760" cy="1828800"/>
          </a:xfrm>
          <a:prstGeom prst="roundRect">
            <a:avLst>
              <a:gd name="adj" fmla="val 4000"/>
            </a:avLst>
          </a:prstGeom>
          <a:solidFill>
            <a:srgbClr val="15102A"/>
          </a:solidFill>
          <a:ln w="9525">
            <a:solidFill>
              <a:srgbClr val="37415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347472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RESIDUAL STREAM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1005840" y="4023360"/>
            <a:ext cx="91440" cy="9144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4" name="Shape 12"/>
          <p:cNvSpPr/>
          <p:nvPr/>
        </p:nvSpPr>
        <p:spPr>
          <a:xfrm>
            <a:off x="1389888" y="4154876"/>
            <a:ext cx="91440" cy="9144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5" name="Shape 13"/>
          <p:cNvSpPr/>
          <p:nvPr/>
        </p:nvSpPr>
        <p:spPr>
          <a:xfrm>
            <a:off x="1051560" y="4069080"/>
            <a:ext cx="384048" cy="131516"/>
          </a:xfrm>
          <a:prstGeom prst="line">
            <a:avLst/>
          </a:prstGeom>
          <a:noFill/>
          <a:ln w="12700">
            <a:solidFill>
              <a:srgbClr val="7C3AE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773936" y="4254192"/>
            <a:ext cx="91440" cy="9144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7" name="Shape 15"/>
          <p:cNvSpPr/>
          <p:nvPr/>
        </p:nvSpPr>
        <p:spPr>
          <a:xfrm>
            <a:off x="1435608" y="4200596"/>
            <a:ext cx="384048" cy="99316"/>
          </a:xfrm>
          <a:prstGeom prst="line">
            <a:avLst/>
          </a:prstGeom>
          <a:noFill/>
          <a:ln w="12700">
            <a:solidFill>
              <a:srgbClr val="7C3AE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157984" y="4296993"/>
            <a:ext cx="91440" cy="9144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9" name="Shape 17"/>
          <p:cNvSpPr/>
          <p:nvPr/>
        </p:nvSpPr>
        <p:spPr>
          <a:xfrm>
            <a:off x="1819656" y="4299912"/>
            <a:ext cx="384048" cy="42801"/>
          </a:xfrm>
          <a:prstGeom prst="line">
            <a:avLst/>
          </a:prstGeom>
          <a:noFill/>
          <a:ln w="12700">
            <a:solidFill>
              <a:srgbClr val="7C3AE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542032" y="4272798"/>
            <a:ext cx="91440" cy="9144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21" name="Shape 19"/>
          <p:cNvSpPr/>
          <p:nvPr/>
        </p:nvSpPr>
        <p:spPr>
          <a:xfrm>
            <a:off x="2203704" y="4342713"/>
            <a:ext cx="384048" cy="-24194"/>
          </a:xfrm>
          <a:prstGeom prst="line">
            <a:avLst/>
          </a:prstGeom>
          <a:noFill/>
          <a:ln w="12700">
            <a:solidFill>
              <a:srgbClr val="7C3AED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926080" y="4187533"/>
            <a:ext cx="91440" cy="9144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23" name="Shape 21"/>
          <p:cNvSpPr/>
          <p:nvPr/>
        </p:nvSpPr>
        <p:spPr>
          <a:xfrm>
            <a:off x="2587752" y="4318518"/>
            <a:ext cx="384048" cy="-85266"/>
          </a:xfrm>
          <a:prstGeom prst="line">
            <a:avLst/>
          </a:prstGeom>
          <a:noFill/>
          <a:ln w="12700">
            <a:solidFill>
              <a:srgbClr val="7C3AED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310128" y="4062072"/>
            <a:ext cx="91440" cy="9144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25" name="Shape 23"/>
          <p:cNvSpPr/>
          <p:nvPr/>
        </p:nvSpPr>
        <p:spPr>
          <a:xfrm>
            <a:off x="2971800" y="4233253"/>
            <a:ext cx="384048" cy="-125461"/>
          </a:xfrm>
          <a:prstGeom prst="line">
            <a:avLst/>
          </a:prstGeom>
          <a:noFill/>
          <a:ln w="12700">
            <a:solidFill>
              <a:srgbClr val="7C3AED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694176" y="3927133"/>
            <a:ext cx="91440" cy="9144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27" name="Shape 25"/>
          <p:cNvSpPr/>
          <p:nvPr/>
        </p:nvSpPr>
        <p:spPr>
          <a:xfrm>
            <a:off x="3355848" y="4107792"/>
            <a:ext cx="384048" cy="-134939"/>
          </a:xfrm>
          <a:prstGeom prst="line">
            <a:avLst/>
          </a:prstGeom>
          <a:noFill/>
          <a:ln w="12700">
            <a:solidFill>
              <a:srgbClr val="7C3AED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078224" y="3815754"/>
            <a:ext cx="91440" cy="9144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29" name="Shape 27"/>
          <p:cNvSpPr/>
          <p:nvPr/>
        </p:nvSpPr>
        <p:spPr>
          <a:xfrm>
            <a:off x="3739896" y="3972853"/>
            <a:ext cx="384048" cy="-111379"/>
          </a:xfrm>
          <a:prstGeom prst="line">
            <a:avLst/>
          </a:prstGeom>
          <a:noFill/>
          <a:ln w="12700">
            <a:solidFill>
              <a:srgbClr val="7C3AED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462272" y="3755204"/>
            <a:ext cx="91440" cy="9144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31" name="Shape 29"/>
          <p:cNvSpPr/>
          <p:nvPr/>
        </p:nvSpPr>
        <p:spPr>
          <a:xfrm>
            <a:off x="4123944" y="3861474"/>
            <a:ext cx="384048" cy="-60550"/>
          </a:xfrm>
          <a:prstGeom prst="line">
            <a:avLst/>
          </a:prstGeom>
          <a:noFill/>
          <a:ln w="12700">
            <a:solidFill>
              <a:srgbClr val="7C3AED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846320" y="3760308"/>
            <a:ext cx="91440" cy="9144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33" name="Shape 31"/>
          <p:cNvSpPr/>
          <p:nvPr/>
        </p:nvSpPr>
        <p:spPr>
          <a:xfrm>
            <a:off x="4507992" y="3800924"/>
            <a:ext cx="384048" cy="5104"/>
          </a:xfrm>
          <a:prstGeom prst="line">
            <a:avLst/>
          </a:prstGeom>
          <a:noFill/>
          <a:ln w="12700">
            <a:solidFill>
              <a:srgbClr val="7C3AED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230368" y="3829816"/>
            <a:ext cx="91440" cy="9144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35" name="Shape 33"/>
          <p:cNvSpPr/>
          <p:nvPr/>
        </p:nvSpPr>
        <p:spPr>
          <a:xfrm>
            <a:off x="4892040" y="3806028"/>
            <a:ext cx="384048" cy="69508"/>
          </a:xfrm>
          <a:prstGeom prst="line">
            <a:avLst/>
          </a:prstGeom>
          <a:noFill/>
          <a:ln w="12700">
            <a:solidFill>
              <a:srgbClr val="7C3AED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310128" y="4519272"/>
            <a:ext cx="73152" cy="73152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37" name="Shape 35"/>
          <p:cNvSpPr/>
          <p:nvPr/>
        </p:nvSpPr>
        <p:spPr>
          <a:xfrm>
            <a:off x="3694176" y="4384333"/>
            <a:ext cx="73152" cy="73152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38" name="Shape 36"/>
          <p:cNvSpPr/>
          <p:nvPr/>
        </p:nvSpPr>
        <p:spPr>
          <a:xfrm>
            <a:off x="4078224" y="4272954"/>
            <a:ext cx="73152" cy="73152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39" name="Shape 37"/>
          <p:cNvSpPr/>
          <p:nvPr/>
        </p:nvSpPr>
        <p:spPr>
          <a:xfrm>
            <a:off x="4462272" y="4212404"/>
            <a:ext cx="73152" cy="73152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40" name="Shape 38"/>
          <p:cNvSpPr/>
          <p:nvPr/>
        </p:nvSpPr>
        <p:spPr>
          <a:xfrm>
            <a:off x="4846320" y="4217508"/>
            <a:ext cx="73152" cy="73152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41" name="Shape 39"/>
          <p:cNvSpPr/>
          <p:nvPr/>
        </p:nvSpPr>
        <p:spPr>
          <a:xfrm>
            <a:off x="5230368" y="4287016"/>
            <a:ext cx="73152" cy="73152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42" name="Text 40"/>
          <p:cNvSpPr/>
          <p:nvPr/>
        </p:nvSpPr>
        <p:spPr>
          <a:xfrm>
            <a:off x="914400" y="466344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Expected</a:t>
            </a:r>
            <a:endParaRPr lang="en-US" sz="700" dirty="0"/>
          </a:p>
        </p:txBody>
      </p:sp>
      <p:sp>
        <p:nvSpPr>
          <p:cNvPr id="43" name="Text 41"/>
          <p:cNvSpPr/>
          <p:nvPr/>
        </p:nvSpPr>
        <p:spPr>
          <a:xfrm>
            <a:off x="914400" y="484632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Reality</a:t>
            </a:r>
            <a:endParaRPr lang="en-US" sz="700" dirty="0"/>
          </a:p>
        </p:txBody>
      </p:sp>
      <p:sp>
        <p:nvSpPr>
          <p:cNvPr id="44" name="Text 42"/>
          <p:cNvSpPr/>
          <p:nvPr/>
        </p:nvSpPr>
        <p:spPr>
          <a:xfrm>
            <a:off x="2286000" y="4754880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divergence = alert</a:t>
            </a:r>
            <a:endParaRPr lang="en-US" sz="700" dirty="0"/>
          </a:p>
        </p:txBody>
      </p:sp>
      <p:sp>
        <p:nvSpPr>
          <p:cNvPr id="45" name="Text 43"/>
          <p:cNvSpPr/>
          <p:nvPr/>
        </p:nvSpPr>
        <p:spPr>
          <a:xfrm>
            <a:off x="731520" y="5349240"/>
            <a:ext cx="4937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TRAINING DATA: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731520" y="5577840"/>
            <a:ext cx="4937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3F4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99% of behavioural signal both silos throw away.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6217920" y="1554480"/>
            <a:ext cx="5486400" cy="4572000"/>
          </a:xfrm>
          <a:prstGeom prst="roundRect">
            <a:avLst>
              <a:gd name="adj" fmla="val 2400"/>
            </a:avLst>
          </a:prstGeom>
          <a:solidFill>
            <a:srgbClr val="1A1330"/>
          </a:solidFill>
          <a:ln w="9525">
            <a:solidFill>
              <a:srgbClr val="EF4444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6492240" y="1691640"/>
            <a:ext cx="1188720" cy="256032"/>
          </a:xfrm>
          <a:prstGeom prst="roundRect">
            <a:avLst>
              <a:gd name="adj" fmla="val 50000"/>
            </a:avLst>
          </a:prstGeom>
          <a:solidFill>
            <a:srgbClr val="EF4444"/>
          </a:solidFill>
          <a:ln/>
        </p:spPr>
      </p:sp>
      <p:sp>
        <p:nvSpPr>
          <p:cNvPr id="49" name="Text 47"/>
          <p:cNvSpPr/>
          <p:nvPr/>
        </p:nvSpPr>
        <p:spPr>
          <a:xfrm>
            <a:off x="6492240" y="1691640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 06</a:t>
            </a:r>
            <a:endParaRPr lang="en-US" sz="700" dirty="0"/>
          </a:p>
        </p:txBody>
      </p:sp>
      <p:sp>
        <p:nvSpPr>
          <p:cNvPr id="50" name="Text 48"/>
          <p:cNvSpPr/>
          <p:nvPr/>
        </p:nvSpPr>
        <p:spPr>
          <a:xfrm>
            <a:off x="6492240" y="201168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3F4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Arena</a:t>
            </a:r>
            <a:endParaRPr lang="en-US" sz="1800" dirty="0"/>
          </a:p>
        </p:txBody>
      </p:sp>
      <p:sp>
        <p:nvSpPr>
          <p:cNvPr id="51" name="Text 49"/>
          <p:cNvSpPr/>
          <p:nvPr/>
        </p:nvSpPr>
        <p:spPr>
          <a:xfrm>
            <a:off x="6492240" y="2468880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Continuously running adversarial agents attack the live system in a shadow environment. Every exploit becomes instant training signal.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6492240" y="3108960"/>
            <a:ext cx="4937760" cy="18288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53" name="Shape 51"/>
          <p:cNvSpPr/>
          <p:nvPr/>
        </p:nvSpPr>
        <p:spPr>
          <a:xfrm>
            <a:off x="6492240" y="3291840"/>
            <a:ext cx="4937760" cy="1920240"/>
          </a:xfrm>
          <a:prstGeom prst="roundRect">
            <a:avLst>
              <a:gd name="adj" fmla="val 3810"/>
            </a:avLst>
          </a:prstGeom>
          <a:solidFill>
            <a:srgbClr val="15102A"/>
          </a:solidFill>
          <a:ln w="9525">
            <a:solidFill>
              <a:srgbClr val="374151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675120" y="338328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ADVERSARIAL ATTACKS</a:t>
            </a:r>
            <a:endParaRPr lang="en-US" sz="800" dirty="0"/>
          </a:p>
        </p:txBody>
      </p:sp>
      <p:sp>
        <p:nvSpPr>
          <p:cNvPr id="55" name="Shape 53"/>
          <p:cNvSpPr/>
          <p:nvPr/>
        </p:nvSpPr>
        <p:spPr>
          <a:xfrm>
            <a:off x="6858000" y="3749040"/>
            <a:ext cx="457200" cy="45720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56" name="Text 54"/>
          <p:cNvSpPr/>
          <p:nvPr/>
        </p:nvSpPr>
        <p:spPr>
          <a:xfrm>
            <a:off x="6858000" y="37490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Deepfake</a:t>
            </a:r>
            <a:endParaRPr lang="en-US" sz="600" dirty="0"/>
          </a:p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Applicants</a:t>
            </a:r>
            <a:endParaRPr lang="en-US" sz="600" dirty="0"/>
          </a:p>
        </p:txBody>
      </p:sp>
      <p:sp>
        <p:nvSpPr>
          <p:cNvPr id="57" name="Shape 55"/>
          <p:cNvSpPr/>
          <p:nvPr/>
        </p:nvSpPr>
        <p:spPr>
          <a:xfrm>
            <a:off x="7086600" y="4251960"/>
            <a:ext cx="0" cy="274320"/>
          </a:xfrm>
          <a:prstGeom prst="line">
            <a:avLst/>
          </a:prstGeom>
          <a:noFill/>
          <a:ln w="12700">
            <a:solidFill>
              <a:srgbClr val="EF4444"/>
            </a:solidFill>
            <a:prstDash val="solid"/>
            <a:tailEnd type="triangle"/>
          </a:ln>
        </p:spPr>
      </p:sp>
      <p:sp>
        <p:nvSpPr>
          <p:cNvPr id="58" name="Shape 56"/>
          <p:cNvSpPr/>
          <p:nvPr/>
        </p:nvSpPr>
        <p:spPr>
          <a:xfrm>
            <a:off x="8046720" y="3749040"/>
            <a:ext cx="457200" cy="45720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59" name="Text 57"/>
          <p:cNvSpPr/>
          <p:nvPr/>
        </p:nvSpPr>
        <p:spPr>
          <a:xfrm>
            <a:off x="8046720" y="37490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Synthetic</a:t>
            </a:r>
            <a:endParaRPr lang="en-US" sz="600" dirty="0"/>
          </a:p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Rings</a:t>
            </a:r>
            <a:endParaRPr lang="en-US" sz="600" dirty="0"/>
          </a:p>
        </p:txBody>
      </p:sp>
      <p:sp>
        <p:nvSpPr>
          <p:cNvPr id="60" name="Shape 58"/>
          <p:cNvSpPr/>
          <p:nvPr/>
        </p:nvSpPr>
        <p:spPr>
          <a:xfrm>
            <a:off x="8275320" y="4251960"/>
            <a:ext cx="0" cy="274320"/>
          </a:xfrm>
          <a:prstGeom prst="line">
            <a:avLst/>
          </a:prstGeom>
          <a:noFill/>
          <a:ln w="12700">
            <a:solidFill>
              <a:srgbClr val="F59E0B"/>
            </a:solidFill>
            <a:prstDash val="solid"/>
            <a:tailEnd type="triangle"/>
          </a:ln>
        </p:spPr>
      </p:sp>
      <p:sp>
        <p:nvSpPr>
          <p:cNvPr id="61" name="Shape 59"/>
          <p:cNvSpPr/>
          <p:nvPr/>
        </p:nvSpPr>
        <p:spPr>
          <a:xfrm>
            <a:off x="9235440" y="3749040"/>
            <a:ext cx="457200" cy="45720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62" name="Text 60"/>
          <p:cNvSpPr/>
          <p:nvPr/>
        </p:nvSpPr>
        <p:spPr>
          <a:xfrm>
            <a:off x="9235440" y="37490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Bust-out</a:t>
            </a:r>
            <a:endParaRPr lang="en-US" sz="600" dirty="0"/>
          </a:p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Personas</a:t>
            </a:r>
            <a:endParaRPr lang="en-US" sz="600" dirty="0"/>
          </a:p>
        </p:txBody>
      </p:sp>
      <p:sp>
        <p:nvSpPr>
          <p:cNvPr id="63" name="Shape 61"/>
          <p:cNvSpPr/>
          <p:nvPr/>
        </p:nvSpPr>
        <p:spPr>
          <a:xfrm>
            <a:off x="9464040" y="4251960"/>
            <a:ext cx="0" cy="274320"/>
          </a:xfrm>
          <a:prstGeom prst="line">
            <a:avLst/>
          </a:prstGeom>
          <a:noFill/>
          <a:ln w="12700">
            <a:solidFill>
              <a:srgbClr val="EF4444"/>
            </a:solidFill>
            <a:prstDash val="solid"/>
            <a:tailEnd type="triangle"/>
          </a:ln>
        </p:spPr>
      </p:sp>
      <p:sp>
        <p:nvSpPr>
          <p:cNvPr id="64" name="Shape 62"/>
          <p:cNvSpPr/>
          <p:nvPr/>
        </p:nvSpPr>
        <p:spPr>
          <a:xfrm>
            <a:off x="10424160" y="3749040"/>
            <a:ext cx="457200" cy="45720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65" name="Text 63"/>
          <p:cNvSpPr/>
          <p:nvPr/>
        </p:nvSpPr>
        <p:spPr>
          <a:xfrm>
            <a:off x="10424160" y="37490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Behavior</a:t>
            </a:r>
            <a:endParaRPr lang="en-US" sz="600" dirty="0"/>
          </a:p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Mimicry</a:t>
            </a:r>
            <a:endParaRPr lang="en-US" sz="600" dirty="0"/>
          </a:p>
        </p:txBody>
      </p:sp>
      <p:sp>
        <p:nvSpPr>
          <p:cNvPr id="66" name="Shape 64"/>
          <p:cNvSpPr/>
          <p:nvPr/>
        </p:nvSpPr>
        <p:spPr>
          <a:xfrm>
            <a:off x="10652760" y="4251960"/>
            <a:ext cx="0" cy="274320"/>
          </a:xfrm>
          <a:prstGeom prst="line">
            <a:avLst/>
          </a:prstGeom>
          <a:noFill/>
          <a:ln w="12700">
            <a:solidFill>
              <a:srgbClr val="F59E0B"/>
            </a:solidFill>
            <a:prstDash val="solid"/>
            <a:tailEnd type="triangle"/>
          </a:ln>
        </p:spPr>
      </p:sp>
      <p:sp>
        <p:nvSpPr>
          <p:cNvPr id="67" name="Shape 65"/>
          <p:cNvSpPr/>
          <p:nvPr/>
        </p:nvSpPr>
        <p:spPr>
          <a:xfrm>
            <a:off x="7498080" y="4663440"/>
            <a:ext cx="3474720" cy="365760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 w="9525">
            <a:solidFill>
              <a:srgbClr val="10B981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7498080" y="466344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🛡  LIVE SYSTEM (SHADOW)</a:t>
            </a:r>
            <a:endParaRPr lang="en-US" sz="900" dirty="0"/>
          </a:p>
        </p:txBody>
      </p:sp>
      <p:sp>
        <p:nvSpPr>
          <p:cNvPr id="69" name="Text 67"/>
          <p:cNvSpPr/>
          <p:nvPr/>
        </p:nvSpPr>
        <p:spPr>
          <a:xfrm>
            <a:off x="6492240" y="5349240"/>
            <a:ext cx="4937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NOW:</a:t>
            </a:r>
            <a:endParaRPr lang="en-US" sz="900" dirty="0"/>
          </a:p>
        </p:txBody>
      </p:sp>
      <p:sp>
        <p:nvSpPr>
          <p:cNvPr id="70" name="Text 68"/>
          <p:cNvSpPr/>
          <p:nvPr/>
        </p:nvSpPr>
        <p:spPr>
          <a:xfrm>
            <a:off x="6492240" y="5577840"/>
            <a:ext cx="4937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3F4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Fraudsters now use generative AI. You cannot fight generative with static.</a:t>
            </a:r>
            <a:endParaRPr lang="en-US" sz="1000" dirty="0"/>
          </a:p>
        </p:txBody>
      </p:sp>
      <p:sp>
        <p:nvSpPr>
          <p:cNvPr id="71" name="Text 69"/>
          <p:cNvSpPr/>
          <p:nvPr/>
        </p:nvSpPr>
        <p:spPr>
          <a:xfrm>
            <a:off x="457200" y="644652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AURA  ·  CONTINUUM RISK LABS</a:t>
            </a:r>
            <a:endParaRPr lang="en-US" sz="800" dirty="0"/>
          </a:p>
        </p:txBody>
      </p:sp>
      <p:sp>
        <p:nvSpPr>
          <p:cNvPr id="72" name="Text 70"/>
          <p:cNvSpPr/>
          <p:nvPr/>
        </p:nvSpPr>
        <p:spPr>
          <a:xfrm>
            <a:off x="10515600" y="644652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/ 14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06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54864" cy="29260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20040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· WHY NOW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1520" y="82296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3F4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forces converge in 2026.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3566160" cy="2560320"/>
          </a:xfrm>
          <a:prstGeom prst="roundRect">
            <a:avLst>
              <a:gd name="adj" fmla="val 4286"/>
            </a:avLst>
          </a:prstGeom>
          <a:solidFill>
            <a:srgbClr val="1A1330"/>
          </a:solidFill>
          <a:ln w="9525">
            <a:solidFill>
              <a:srgbClr val="7C3AE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691640"/>
            <a:ext cx="594360" cy="59436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69164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🧠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640080" y="237744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3F4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Causal ML tooling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2743200"/>
            <a:ext cx="3200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EconML, DoWhy, doubly-robust estimators make counterfactual training operationalisable at production scale.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297680" y="1554480"/>
            <a:ext cx="3566160" cy="2560320"/>
          </a:xfrm>
          <a:prstGeom prst="roundRect">
            <a:avLst>
              <a:gd name="adj" fmla="val 4286"/>
            </a:avLst>
          </a:prstGeom>
          <a:solidFill>
            <a:srgbClr val="1A1330"/>
          </a:solidFill>
          <a:ln w="9525">
            <a:solidFill>
              <a:srgbClr val="A78BF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480560" y="1691640"/>
            <a:ext cx="594360" cy="594360"/>
          </a:xfrm>
          <a:prstGeom prst="ellipse">
            <a:avLst/>
          </a:prstGeom>
          <a:solidFill>
            <a:srgbClr val="A78BFA"/>
          </a:solidFill>
          <a:ln/>
        </p:spPr>
      </p:sp>
      <p:sp>
        <p:nvSpPr>
          <p:cNvPr id="12" name="Text 10"/>
          <p:cNvSpPr/>
          <p:nvPr/>
        </p:nvSpPr>
        <p:spPr>
          <a:xfrm>
            <a:off x="4480560" y="169164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⚡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4480560" y="237744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3F4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Vector DBs + sequence models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480560" y="2743200"/>
            <a:ext cx="3200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256-dim real-time updates and millions of live generative twins are now computationally feasible.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8138160" y="1554480"/>
            <a:ext cx="3566160" cy="2560320"/>
          </a:xfrm>
          <a:prstGeom prst="roundRect">
            <a:avLst>
              <a:gd name="adj" fmla="val 4286"/>
            </a:avLst>
          </a:prstGeom>
          <a:solidFill>
            <a:srgbClr val="1A1330"/>
          </a:solidFill>
          <a:ln w="9525">
            <a:solidFill>
              <a:srgbClr val="10B98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321040" y="1691640"/>
            <a:ext cx="594360" cy="59436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7" name="Text 15"/>
          <p:cNvSpPr/>
          <p:nvPr/>
        </p:nvSpPr>
        <p:spPr>
          <a:xfrm>
            <a:off x="8321040" y="169164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📋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8321040" y="237744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3F4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Regulator openness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321040" y="2743200"/>
            <a:ext cx="3200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MAS, EBA, OCC signal acceptance of continuously-learning models, provided a frozen shadow is maintained for audit.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7200" y="4389120"/>
            <a:ext cx="2651760" cy="1737360"/>
          </a:xfrm>
          <a:prstGeom prst="roundRect">
            <a:avLst>
              <a:gd name="adj" fmla="val 6316"/>
            </a:avLst>
          </a:prstGeom>
          <a:solidFill>
            <a:srgbClr val="1A1330"/>
          </a:solidFill>
          <a:ln w="9525">
            <a:solidFill>
              <a:srgbClr val="37415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448056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$12B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457200" y="489204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3F4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TAM · SOFTWARE SPEND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457200" y="5166360"/>
            <a:ext cx="2651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Growing 14% YoY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640080" y="5577840"/>
            <a:ext cx="2286000" cy="137160"/>
          </a:xfrm>
          <a:prstGeom prst="roundRect">
            <a:avLst>
              <a:gd name="adj" fmla="val 50000"/>
            </a:avLst>
          </a:prstGeom>
          <a:solidFill>
            <a:srgbClr val="374151"/>
          </a:solidFill>
          <a:ln/>
        </p:spPr>
      </p:sp>
      <p:sp>
        <p:nvSpPr>
          <p:cNvPr id="25" name="Shape 23"/>
          <p:cNvSpPr/>
          <p:nvPr/>
        </p:nvSpPr>
        <p:spPr>
          <a:xfrm>
            <a:off x="640080" y="5577840"/>
            <a:ext cx="1371600" cy="137160"/>
          </a:xfrm>
          <a:prstGeom prst="roundRect">
            <a:avLst>
              <a:gd name="adj" fmla="val 50000"/>
            </a:avLst>
          </a:prstGeom>
          <a:solidFill>
            <a:srgbClr val="A78BFA"/>
          </a:solidFill>
          <a:ln/>
        </p:spPr>
      </p:sp>
      <p:sp>
        <p:nvSpPr>
          <p:cNvPr id="26" name="Shape 24"/>
          <p:cNvSpPr/>
          <p:nvPr/>
        </p:nvSpPr>
        <p:spPr>
          <a:xfrm>
            <a:off x="3337560" y="4389120"/>
            <a:ext cx="2651760" cy="1737360"/>
          </a:xfrm>
          <a:prstGeom prst="roundRect">
            <a:avLst>
              <a:gd name="adj" fmla="val 6316"/>
            </a:avLst>
          </a:prstGeom>
          <a:solidFill>
            <a:srgbClr val="1A1330"/>
          </a:solidFill>
          <a:ln w="9525">
            <a:solidFill>
              <a:srgbClr val="37415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337560" y="448056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$487B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3337560" y="489204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3F4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ANNUAL FRAUD LOSSES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3337560" y="5166360"/>
            <a:ext cx="2651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Global FS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3520440" y="5577840"/>
            <a:ext cx="2286000" cy="137160"/>
          </a:xfrm>
          <a:prstGeom prst="roundRect">
            <a:avLst>
              <a:gd name="adj" fmla="val 50000"/>
            </a:avLst>
          </a:prstGeom>
          <a:solidFill>
            <a:srgbClr val="374151"/>
          </a:solidFill>
          <a:ln/>
        </p:spPr>
      </p:sp>
      <p:sp>
        <p:nvSpPr>
          <p:cNvPr id="31" name="Shape 29"/>
          <p:cNvSpPr/>
          <p:nvPr/>
        </p:nvSpPr>
        <p:spPr>
          <a:xfrm>
            <a:off x="3520440" y="5577840"/>
            <a:ext cx="2057400" cy="137160"/>
          </a:xfrm>
          <a:prstGeom prst="roundRect">
            <a:avLst>
              <a:gd name="adj" fmla="val 50000"/>
            </a:avLst>
          </a:prstGeom>
          <a:solidFill>
            <a:srgbClr val="EF4444"/>
          </a:solidFill>
          <a:ln/>
        </p:spPr>
      </p:sp>
      <p:sp>
        <p:nvSpPr>
          <p:cNvPr id="32" name="Shape 30"/>
          <p:cNvSpPr/>
          <p:nvPr/>
        </p:nvSpPr>
        <p:spPr>
          <a:xfrm>
            <a:off x="6217920" y="4389120"/>
            <a:ext cx="2651760" cy="1737360"/>
          </a:xfrm>
          <a:prstGeom prst="roundRect">
            <a:avLst>
              <a:gd name="adj" fmla="val 6316"/>
            </a:avLst>
          </a:prstGeom>
          <a:solidFill>
            <a:srgbClr val="1A1330"/>
          </a:solidFill>
          <a:ln w="9525">
            <a:solidFill>
              <a:srgbClr val="37415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217920" y="448056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$84T</a:t>
            </a:r>
            <a:endParaRPr lang="en-US" sz="2200" dirty="0"/>
          </a:p>
        </p:txBody>
      </p:sp>
      <p:sp>
        <p:nvSpPr>
          <p:cNvPr id="34" name="Text 32"/>
          <p:cNvSpPr/>
          <p:nvPr/>
        </p:nvSpPr>
        <p:spPr>
          <a:xfrm>
            <a:off x="6217920" y="489204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3F4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WEALTH TRANSFER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6217920" y="5166360"/>
            <a:ext cx="2651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 2045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6400800" y="5577840"/>
            <a:ext cx="2286000" cy="137160"/>
          </a:xfrm>
          <a:prstGeom prst="roundRect">
            <a:avLst>
              <a:gd name="adj" fmla="val 50000"/>
            </a:avLst>
          </a:prstGeom>
          <a:solidFill>
            <a:srgbClr val="374151"/>
          </a:solidFill>
          <a:ln/>
        </p:spPr>
      </p:sp>
      <p:sp>
        <p:nvSpPr>
          <p:cNvPr id="37" name="Shape 35"/>
          <p:cNvSpPr/>
          <p:nvPr/>
        </p:nvSpPr>
        <p:spPr>
          <a:xfrm>
            <a:off x="6400800" y="5577840"/>
            <a:ext cx="2286000" cy="137160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/>
        </p:spPr>
      </p:sp>
      <p:sp>
        <p:nvSpPr>
          <p:cNvPr id="38" name="Shape 36"/>
          <p:cNvSpPr/>
          <p:nvPr/>
        </p:nvSpPr>
        <p:spPr>
          <a:xfrm>
            <a:off x="9098280" y="4389120"/>
            <a:ext cx="2651760" cy="1737360"/>
          </a:xfrm>
          <a:prstGeom prst="roundRect">
            <a:avLst>
              <a:gd name="adj" fmla="val 6316"/>
            </a:avLst>
          </a:prstGeom>
          <a:solidFill>
            <a:srgbClr val="1A1330"/>
          </a:solidFill>
          <a:ln w="9525">
            <a:solidFill>
              <a:srgbClr val="374151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9098280" y="448056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10×</a:t>
            </a:r>
            <a:endParaRPr lang="en-US" sz="2200" dirty="0"/>
          </a:p>
        </p:txBody>
      </p:sp>
      <p:sp>
        <p:nvSpPr>
          <p:cNvPr id="40" name="Text 38"/>
          <p:cNvSpPr/>
          <p:nvPr/>
        </p:nvSpPr>
        <p:spPr>
          <a:xfrm>
            <a:off x="9098280" y="489204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3F4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FASTER DEPLOYMENT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9098280" y="5166360"/>
            <a:ext cx="2651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 siloed MRM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9281160" y="5577840"/>
            <a:ext cx="2286000" cy="137160"/>
          </a:xfrm>
          <a:prstGeom prst="roundRect">
            <a:avLst>
              <a:gd name="adj" fmla="val 50000"/>
            </a:avLst>
          </a:prstGeom>
          <a:solidFill>
            <a:srgbClr val="374151"/>
          </a:solidFill>
          <a:ln/>
        </p:spPr>
      </p:sp>
      <p:sp>
        <p:nvSpPr>
          <p:cNvPr id="43" name="Shape 41"/>
          <p:cNvSpPr/>
          <p:nvPr/>
        </p:nvSpPr>
        <p:spPr>
          <a:xfrm>
            <a:off x="9281160" y="5577840"/>
            <a:ext cx="1714500" cy="137160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/>
        </p:spPr>
      </p:sp>
      <p:sp>
        <p:nvSpPr>
          <p:cNvPr id="44" name="Text 42"/>
          <p:cNvSpPr/>
          <p:nvPr/>
        </p:nvSpPr>
        <p:spPr>
          <a:xfrm>
            <a:off x="457200" y="644652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AURA  ·  CONTINUUM RISK LABS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10515600" y="644652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/ 14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06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54864" cy="29260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20040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· SEE IT WORK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1520" y="82296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3F4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scenarios, one engine.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5486400" cy="4206240"/>
          </a:xfrm>
          <a:prstGeom prst="roundRect">
            <a:avLst>
              <a:gd name="adj" fmla="val 2609"/>
            </a:avLst>
          </a:prstGeom>
          <a:solidFill>
            <a:srgbClr val="1A1330"/>
          </a:solidFill>
          <a:ln w="9525">
            <a:solidFill>
              <a:srgbClr val="F59E0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1691640"/>
            <a:ext cx="1463040" cy="256032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691640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SCENARIO 01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731520" y="201168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3F4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Mei, 34 — Real Person, Real Documents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31520" y="2423160"/>
            <a:ext cx="4937760" cy="1371600"/>
          </a:xfrm>
          <a:prstGeom prst="roundRect">
            <a:avLst>
              <a:gd name="adj" fmla="val 5333"/>
            </a:avLst>
          </a:prstGeom>
          <a:solidFill>
            <a:srgbClr val="15102A"/>
          </a:solidFill>
          <a:ln w="9525">
            <a:solidFill>
              <a:srgbClr val="37415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2487168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BEHAVIOURAL SHIFT TIMELINE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1097280" y="2834640"/>
            <a:ext cx="274320" cy="27432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2" name="Text 10"/>
          <p:cNvSpPr/>
          <p:nvPr/>
        </p:nvSpPr>
        <p:spPr>
          <a:xfrm>
            <a:off x="1097280" y="283464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Salary</a:t>
            </a:r>
            <a:endParaRPr lang="en-US" sz="500" dirty="0"/>
          </a:p>
          <a:p>
            <a:pPr algn="ctr" indent="0" marL="0">
              <a:buNone/>
            </a:pPr>
            <a:r>
              <a:rPr lang="en-US" sz="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later</a:t>
            </a:r>
            <a:endParaRPr lang="en-US" sz="500" dirty="0"/>
          </a:p>
        </p:txBody>
      </p:sp>
      <p:sp>
        <p:nvSpPr>
          <p:cNvPr id="13" name="Shape 11"/>
          <p:cNvSpPr/>
          <p:nvPr/>
        </p:nvSpPr>
        <p:spPr>
          <a:xfrm>
            <a:off x="2011680" y="2834640"/>
            <a:ext cx="274320" cy="27432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14" name="Text 12"/>
          <p:cNvSpPr/>
          <p:nvPr/>
        </p:nvSpPr>
        <p:spPr>
          <a:xfrm>
            <a:off x="2011680" y="283464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new</a:t>
            </a:r>
            <a:endParaRPr lang="en-US" sz="500" dirty="0"/>
          </a:p>
          <a:p>
            <a:pPr algn="ctr" indent="0" marL="0">
              <a:buNone/>
            </a:pPr>
            <a:r>
              <a:rPr lang="en-US" sz="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credit accts</a:t>
            </a:r>
            <a:endParaRPr lang="en-US" sz="500" dirty="0"/>
          </a:p>
        </p:txBody>
      </p:sp>
      <p:sp>
        <p:nvSpPr>
          <p:cNvPr id="15" name="Shape 13"/>
          <p:cNvSpPr/>
          <p:nvPr/>
        </p:nvSpPr>
        <p:spPr>
          <a:xfrm>
            <a:off x="1371600" y="2971800"/>
            <a:ext cx="640080" cy="0"/>
          </a:xfrm>
          <a:prstGeom prst="line">
            <a:avLst/>
          </a:prstGeom>
          <a:noFill/>
          <a:ln w="12700">
            <a:solidFill>
              <a:srgbClr val="37415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926080" y="2834640"/>
            <a:ext cx="274320" cy="27432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7" name="Text 15"/>
          <p:cNvSpPr/>
          <p:nvPr/>
        </p:nvSpPr>
        <p:spPr>
          <a:xfrm>
            <a:off x="2926080" y="283464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E-wallet</a:t>
            </a:r>
            <a:endParaRPr lang="en-US" sz="500" dirty="0"/>
          </a:p>
          <a:p>
            <a:pPr algn="ctr" indent="0" marL="0">
              <a:buNone/>
            </a:pPr>
            <a:r>
              <a:rPr lang="en-US" sz="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top-ups</a:t>
            </a:r>
            <a:endParaRPr lang="en-US" sz="500" dirty="0"/>
          </a:p>
        </p:txBody>
      </p:sp>
      <p:sp>
        <p:nvSpPr>
          <p:cNvPr id="18" name="Shape 16"/>
          <p:cNvSpPr/>
          <p:nvPr/>
        </p:nvSpPr>
        <p:spPr>
          <a:xfrm>
            <a:off x="2286000" y="2971800"/>
            <a:ext cx="640080" cy="0"/>
          </a:xfrm>
          <a:prstGeom prst="line">
            <a:avLst/>
          </a:prstGeom>
          <a:noFill/>
          <a:ln w="12700">
            <a:solidFill>
              <a:srgbClr val="37415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840480" y="2834640"/>
            <a:ext cx="274320" cy="27432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20" name="Text 18"/>
          <p:cNvSpPr/>
          <p:nvPr/>
        </p:nvSpPr>
        <p:spPr>
          <a:xfrm>
            <a:off x="3840480" y="283464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2AM</a:t>
            </a:r>
            <a:endParaRPr lang="en-US" sz="500" dirty="0"/>
          </a:p>
          <a:p>
            <a:pPr algn="ctr" indent="0" marL="0">
              <a:buNone/>
            </a:pPr>
            <a:r>
              <a:rPr lang="en-US" sz="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sessions</a:t>
            </a:r>
            <a:endParaRPr lang="en-US" sz="500" dirty="0"/>
          </a:p>
        </p:txBody>
      </p:sp>
      <p:sp>
        <p:nvSpPr>
          <p:cNvPr id="21" name="Shape 19"/>
          <p:cNvSpPr/>
          <p:nvPr/>
        </p:nvSpPr>
        <p:spPr>
          <a:xfrm>
            <a:off x="3200400" y="2971800"/>
            <a:ext cx="640080" cy="0"/>
          </a:xfrm>
          <a:prstGeom prst="line">
            <a:avLst/>
          </a:prstGeom>
          <a:noFill/>
          <a:ln w="12700">
            <a:solidFill>
              <a:srgbClr val="37415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754880" y="2834640"/>
            <a:ext cx="274320" cy="27432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23" name="Text 21"/>
          <p:cNvSpPr/>
          <p:nvPr/>
        </p:nvSpPr>
        <p:spPr>
          <a:xfrm>
            <a:off x="4754880" y="283464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2nd</a:t>
            </a:r>
            <a:endParaRPr lang="en-US" sz="500" dirty="0"/>
          </a:p>
          <a:p>
            <a:pPr algn="ctr" indent="0" marL="0">
              <a:buNone/>
            </a:pPr>
            <a:r>
              <a:rPr lang="en-US" sz="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device</a:t>
            </a:r>
            <a:endParaRPr lang="en-US" sz="500" dirty="0"/>
          </a:p>
        </p:txBody>
      </p:sp>
      <p:sp>
        <p:nvSpPr>
          <p:cNvPr id="24" name="Shape 22"/>
          <p:cNvSpPr/>
          <p:nvPr/>
        </p:nvSpPr>
        <p:spPr>
          <a:xfrm>
            <a:off x="4114800" y="2971800"/>
            <a:ext cx="640080" cy="0"/>
          </a:xfrm>
          <a:prstGeom prst="line">
            <a:avLst/>
          </a:prstGeom>
          <a:noFill/>
          <a:ln w="12700">
            <a:solidFill>
              <a:srgbClr val="37415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14400" y="3200400"/>
            <a:ext cx="182880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Normal behaviour</a:t>
            </a:r>
            <a:endParaRPr lang="en-US" sz="600" dirty="0"/>
          </a:p>
        </p:txBody>
      </p:sp>
      <p:sp>
        <p:nvSpPr>
          <p:cNvPr id="26" name="Text 24"/>
          <p:cNvSpPr/>
          <p:nvPr/>
        </p:nvSpPr>
        <p:spPr>
          <a:xfrm>
            <a:off x="3200400" y="3200400"/>
            <a:ext cx="228600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Divergence detected →</a:t>
            </a:r>
            <a:endParaRPr lang="en-US" sz="600" dirty="0"/>
          </a:p>
        </p:txBody>
      </p:sp>
      <p:sp>
        <p:nvSpPr>
          <p:cNvPr id="27" name="Shape 25"/>
          <p:cNvSpPr/>
          <p:nvPr/>
        </p:nvSpPr>
        <p:spPr>
          <a:xfrm>
            <a:off x="731520" y="3931920"/>
            <a:ext cx="4937760" cy="594360"/>
          </a:xfrm>
          <a:prstGeom prst="roundRect">
            <a:avLst>
              <a:gd name="adj" fmla="val 9231"/>
            </a:avLst>
          </a:prstGeom>
          <a:solidFill>
            <a:srgbClr val="1C1C1C"/>
          </a:solidFill>
          <a:ln w="9525">
            <a:solidFill>
              <a:srgbClr val="37415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14400" y="3931920"/>
            <a:ext cx="4572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OLD: Fraud model says "legitimate". Credit score unchanged.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731520" y="4663440"/>
            <a:ext cx="4937760" cy="822960"/>
          </a:xfrm>
          <a:prstGeom prst="roundRect">
            <a:avLst>
              <a:gd name="adj" fmla="val 6667"/>
            </a:avLst>
          </a:prstGeom>
          <a:solidFill>
            <a:srgbClr val="0F1A0F"/>
          </a:solidFill>
          <a:ln w="9525">
            <a:solidFill>
              <a:srgbClr val="10B98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14400" y="4663440"/>
            <a:ext cx="4572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AURA: Bust-out transition detected.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Consolidation offer + limit adjustment.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Loss prevented, customer saved.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6217920" y="1554480"/>
            <a:ext cx="5486400" cy="4206240"/>
          </a:xfrm>
          <a:prstGeom prst="roundRect">
            <a:avLst>
              <a:gd name="adj" fmla="val 2609"/>
            </a:avLst>
          </a:prstGeom>
          <a:solidFill>
            <a:srgbClr val="1A1330"/>
          </a:solidFill>
          <a:ln w="9525">
            <a:solidFill>
              <a:srgbClr val="EF4444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492240" y="1691640"/>
            <a:ext cx="1463040" cy="256032"/>
          </a:xfrm>
          <a:prstGeom prst="roundRect">
            <a:avLst>
              <a:gd name="adj" fmla="val 50000"/>
            </a:avLst>
          </a:prstGeom>
          <a:solidFill>
            <a:srgbClr val="EF4444"/>
          </a:solidFill>
          <a:ln/>
        </p:spPr>
      </p:sp>
      <p:sp>
        <p:nvSpPr>
          <p:cNvPr id="33" name="Text 31"/>
          <p:cNvSpPr/>
          <p:nvPr/>
        </p:nvSpPr>
        <p:spPr>
          <a:xfrm>
            <a:off x="6492240" y="1691640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SCENARIO 02</a:t>
            </a:r>
            <a:endParaRPr lang="en-US" sz="700" dirty="0"/>
          </a:p>
        </p:txBody>
      </p:sp>
      <p:sp>
        <p:nvSpPr>
          <p:cNvPr id="34" name="Text 32"/>
          <p:cNvSpPr/>
          <p:nvPr/>
        </p:nvSpPr>
        <p:spPr>
          <a:xfrm>
            <a:off x="6492240" y="201168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3F4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Synthetic Identity Ring — 200 Deepfakes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6492240" y="2423160"/>
            <a:ext cx="4937760" cy="1371600"/>
          </a:xfrm>
          <a:prstGeom prst="roundRect">
            <a:avLst>
              <a:gd name="adj" fmla="val 5333"/>
            </a:avLst>
          </a:prstGeom>
          <a:solidFill>
            <a:srgbClr val="15102A"/>
          </a:solidFill>
          <a:ln w="9525">
            <a:solidFill>
              <a:srgbClr val="37415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675120" y="2487168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FIELD — CLUSTER DETECTION</a:t>
            </a:r>
            <a:endParaRPr lang="en-US" sz="700" dirty="0"/>
          </a:p>
        </p:txBody>
      </p:sp>
      <p:sp>
        <p:nvSpPr>
          <p:cNvPr id="37" name="Shape 35"/>
          <p:cNvSpPr/>
          <p:nvPr/>
        </p:nvSpPr>
        <p:spPr>
          <a:xfrm>
            <a:off x="9547697" y="2987639"/>
            <a:ext cx="109728" cy="109728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38" name="Shape 36"/>
          <p:cNvSpPr/>
          <p:nvPr/>
        </p:nvSpPr>
        <p:spPr>
          <a:xfrm>
            <a:off x="8121217" y="3030241"/>
            <a:ext cx="109728" cy="109728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39" name="Shape 37"/>
          <p:cNvSpPr/>
          <p:nvPr/>
        </p:nvSpPr>
        <p:spPr>
          <a:xfrm>
            <a:off x="9744985" y="3300358"/>
            <a:ext cx="109728" cy="109728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40" name="Shape 38"/>
          <p:cNvSpPr/>
          <p:nvPr/>
        </p:nvSpPr>
        <p:spPr>
          <a:xfrm>
            <a:off x="9436622" y="3333497"/>
            <a:ext cx="109728" cy="109728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41" name="Shape 39"/>
          <p:cNvSpPr/>
          <p:nvPr/>
        </p:nvSpPr>
        <p:spPr>
          <a:xfrm>
            <a:off x="9262437" y="3273385"/>
            <a:ext cx="109728" cy="109728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42" name="Shape 40"/>
          <p:cNvSpPr/>
          <p:nvPr/>
        </p:nvSpPr>
        <p:spPr>
          <a:xfrm>
            <a:off x="9752167" y="3038996"/>
            <a:ext cx="109728" cy="109728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43" name="Shape 41"/>
          <p:cNvSpPr/>
          <p:nvPr/>
        </p:nvSpPr>
        <p:spPr>
          <a:xfrm>
            <a:off x="10200149" y="2821169"/>
            <a:ext cx="109728" cy="109728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44" name="Shape 42"/>
          <p:cNvSpPr/>
          <p:nvPr/>
        </p:nvSpPr>
        <p:spPr>
          <a:xfrm>
            <a:off x="7485501" y="3275723"/>
            <a:ext cx="109728" cy="109728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45" name="Shape 43"/>
          <p:cNvSpPr/>
          <p:nvPr/>
        </p:nvSpPr>
        <p:spPr>
          <a:xfrm>
            <a:off x="9554474" y="2914082"/>
            <a:ext cx="109728" cy="109728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46" name="Shape 44"/>
          <p:cNvSpPr/>
          <p:nvPr/>
        </p:nvSpPr>
        <p:spPr>
          <a:xfrm>
            <a:off x="7809276" y="2776768"/>
            <a:ext cx="109728" cy="109728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47" name="Shape 45"/>
          <p:cNvSpPr/>
          <p:nvPr/>
        </p:nvSpPr>
        <p:spPr>
          <a:xfrm>
            <a:off x="7358296" y="2944398"/>
            <a:ext cx="109728" cy="109728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48" name="Shape 46"/>
          <p:cNvSpPr/>
          <p:nvPr/>
        </p:nvSpPr>
        <p:spPr>
          <a:xfrm>
            <a:off x="7881652" y="3188814"/>
            <a:ext cx="109728" cy="109728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49" name="Shape 47"/>
          <p:cNvSpPr/>
          <p:nvPr/>
        </p:nvSpPr>
        <p:spPr>
          <a:xfrm>
            <a:off x="8416766" y="3369634"/>
            <a:ext cx="109728" cy="109728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50" name="Shape 48"/>
          <p:cNvSpPr/>
          <p:nvPr/>
        </p:nvSpPr>
        <p:spPr>
          <a:xfrm>
            <a:off x="10362015" y="2767346"/>
            <a:ext cx="109728" cy="109728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51" name="Shape 49"/>
          <p:cNvSpPr/>
          <p:nvPr/>
        </p:nvSpPr>
        <p:spPr>
          <a:xfrm>
            <a:off x="9078858" y="3021376"/>
            <a:ext cx="109728" cy="109728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52" name="Shape 50"/>
          <p:cNvSpPr/>
          <p:nvPr/>
        </p:nvSpPr>
        <p:spPr>
          <a:xfrm>
            <a:off x="10515600" y="3291840"/>
            <a:ext cx="137160" cy="13716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53" name="Text 51"/>
          <p:cNvSpPr/>
          <p:nvPr/>
        </p:nvSpPr>
        <p:spPr>
          <a:xfrm>
            <a:off x="6675120" y="32004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7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 applicants</a:t>
            </a:r>
            <a:endParaRPr lang="en-US" sz="7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7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1 residual</a:t>
            </a:r>
            <a:endParaRPr lang="en-US" sz="7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7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signature</a:t>
            </a:r>
            <a:endParaRPr lang="en-US" sz="700" dirty="0"/>
          </a:p>
        </p:txBody>
      </p:sp>
      <p:sp>
        <p:nvSpPr>
          <p:cNvPr id="54" name="Text 52"/>
          <p:cNvSpPr/>
          <p:nvPr/>
        </p:nvSpPr>
        <p:spPr>
          <a:xfrm>
            <a:off x="9144000" y="320040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Cluster = ring</a:t>
            </a:r>
            <a:endParaRPr lang="en-US" sz="700" dirty="0"/>
          </a:p>
        </p:txBody>
      </p:sp>
      <p:sp>
        <p:nvSpPr>
          <p:cNvPr id="55" name="Shape 53"/>
          <p:cNvSpPr/>
          <p:nvPr/>
        </p:nvSpPr>
        <p:spPr>
          <a:xfrm>
            <a:off x="6492240" y="3931920"/>
            <a:ext cx="4937760" cy="594360"/>
          </a:xfrm>
          <a:prstGeom prst="roundRect">
            <a:avLst>
              <a:gd name="adj" fmla="val 9231"/>
            </a:avLst>
          </a:prstGeom>
          <a:solidFill>
            <a:srgbClr val="1C0F0F"/>
          </a:solidFill>
          <a:ln w="9525">
            <a:solidFill>
              <a:srgbClr val="EF4444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675120" y="3931920"/>
            <a:ext cx="4572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FIELD: Lights up as a cluster diverging from reality.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6492240" y="4663440"/>
            <a:ext cx="4937760" cy="822960"/>
          </a:xfrm>
          <a:prstGeom prst="roundRect">
            <a:avLst>
              <a:gd name="adj" fmla="val 6667"/>
            </a:avLst>
          </a:prstGeom>
          <a:solidFill>
            <a:srgbClr val="0F1A0F"/>
          </a:solidFill>
          <a:ln w="9525">
            <a:solidFill>
              <a:srgbClr val="10B981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675120" y="4663440"/>
            <a:ext cx="4572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OUTCOME: Ring killed at application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not at first missed payment.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Zero losses from 200 fraudulent accounts.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457200" y="5897880"/>
            <a:ext cx="11247120" cy="502920"/>
          </a:xfrm>
          <a:prstGeom prst="roundRect">
            <a:avLst>
              <a:gd name="adj" fmla="val 21818"/>
            </a:avLst>
          </a:prstGeom>
          <a:solidFill>
            <a:srgbClr val="0F1A2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731520" y="5897880"/>
            <a:ext cx="10698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GXS:  Thin-file customers · No credit history · Behaviour is the only signal · AURA is behaviour-first · GXS's data exhaust is the fuel</a:t>
            </a:r>
            <a:endParaRPr lang="en-US" sz="1000" dirty="0"/>
          </a:p>
        </p:txBody>
      </p:sp>
      <p:sp>
        <p:nvSpPr>
          <p:cNvPr id="61" name="Text 59"/>
          <p:cNvSpPr/>
          <p:nvPr/>
        </p:nvSpPr>
        <p:spPr>
          <a:xfrm>
            <a:off x="457200" y="644652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AURA  ·  CONTINUUM RISK LABS</a:t>
            </a:r>
            <a:endParaRPr lang="en-US" sz="800" dirty="0"/>
          </a:p>
        </p:txBody>
      </p:sp>
      <p:sp>
        <p:nvSpPr>
          <p:cNvPr id="62" name="Text 60"/>
          <p:cNvSpPr/>
          <p:nvPr/>
        </p:nvSpPr>
        <p:spPr>
          <a:xfrm>
            <a:off x="10515600" y="644652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/ 14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06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54864" cy="29260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20040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· BUSINESS MODEL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1520" y="82296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3F4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Aligned economics.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731520" y="141732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earn meaningfully only when GXS Bank's losses demonstrably fall.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2011680"/>
            <a:ext cx="3566160" cy="3931920"/>
          </a:xfrm>
          <a:prstGeom prst="roundRect">
            <a:avLst>
              <a:gd name="adj" fmla="val 3077"/>
            </a:avLst>
          </a:prstGeom>
          <a:solidFill>
            <a:srgbClr val="0A1F1A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554480" y="1874520"/>
            <a:ext cx="1463040" cy="256032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/>
        </p:spPr>
      </p:sp>
      <p:sp>
        <p:nvSpPr>
          <p:cNvPr id="8" name="Text 6"/>
          <p:cNvSpPr/>
          <p:nvPr/>
        </p:nvSpPr>
        <p:spPr>
          <a:xfrm>
            <a:off x="1554480" y="1874520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RECOMMENDED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731520" y="228600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SHADOW PILOT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31520" y="260604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3F4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cost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31520" y="2926080"/>
            <a:ext cx="3017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 days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731520" y="3246120"/>
            <a:ext cx="3017520" cy="9144"/>
          </a:xfrm>
          <a:prstGeom prst="rect">
            <a:avLst/>
          </a:prstGeom>
          <a:solidFill>
            <a:srgbClr val="374151"/>
          </a:solidFill>
          <a:ln/>
        </p:spPr>
      </p:sp>
      <p:sp>
        <p:nvSpPr>
          <p:cNvPr id="13" name="Shape 11"/>
          <p:cNvSpPr/>
          <p:nvPr/>
        </p:nvSpPr>
        <p:spPr>
          <a:xfrm>
            <a:off x="731520" y="3383280"/>
            <a:ext cx="164592" cy="164592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3383280"/>
            <a:ext cx="16459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1005840" y="33375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 product line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731520" y="3749040"/>
            <a:ext cx="164592" cy="164592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3749040"/>
            <a:ext cx="16459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700" dirty="0"/>
          </a:p>
        </p:txBody>
      </p:sp>
      <p:sp>
        <p:nvSpPr>
          <p:cNvPr id="18" name="Text 16"/>
          <p:cNvSpPr/>
          <p:nvPr/>
        </p:nvSpPr>
        <p:spPr>
          <a:xfrm>
            <a:off x="1005840" y="3703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Divergence baseline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731520" y="4114800"/>
            <a:ext cx="164592" cy="164592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0" name="Text 18"/>
          <p:cNvSpPr/>
          <p:nvPr/>
        </p:nvSpPr>
        <p:spPr>
          <a:xfrm>
            <a:off x="731520" y="4114800"/>
            <a:ext cx="16459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700" dirty="0"/>
          </a:p>
        </p:txBody>
      </p:sp>
      <p:sp>
        <p:nvSpPr>
          <p:cNvPr id="21" name="Text 19"/>
          <p:cNvSpPr/>
          <p:nvPr/>
        </p:nvSpPr>
        <p:spPr>
          <a:xfrm>
            <a:off x="1005840" y="40690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production decisions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731520" y="4480560"/>
            <a:ext cx="164592" cy="164592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3" name="Text 21"/>
          <p:cNvSpPr/>
          <p:nvPr/>
        </p:nvSpPr>
        <p:spPr>
          <a:xfrm>
            <a:off x="731520" y="4480560"/>
            <a:ext cx="16459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700" dirty="0"/>
          </a:p>
        </p:txBody>
      </p:sp>
      <p:sp>
        <p:nvSpPr>
          <p:cNvPr id="24" name="Text 22"/>
          <p:cNvSpPr/>
          <p:nvPr/>
        </p:nvSpPr>
        <p:spPr>
          <a:xfrm>
            <a:off x="1005840" y="44348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Proof before commitment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297680" y="2011680"/>
            <a:ext cx="3566160" cy="3931920"/>
          </a:xfrm>
          <a:prstGeom prst="roundRect">
            <a:avLst>
              <a:gd name="adj" fmla="val 3077"/>
            </a:avLst>
          </a:prstGeom>
          <a:solidFill>
            <a:srgbClr val="1A1330"/>
          </a:solidFill>
          <a:ln w="9525">
            <a:solidFill>
              <a:srgbClr val="7C3AE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0" y="228600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 LICENSE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572000" y="260604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3F4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Annual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4572000" y="2926080"/>
            <a:ext cx="3017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Tiered by volume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572000" y="3246120"/>
            <a:ext cx="3017520" cy="9144"/>
          </a:xfrm>
          <a:prstGeom prst="rect">
            <a:avLst/>
          </a:prstGeom>
          <a:solidFill>
            <a:srgbClr val="374151"/>
          </a:solidFill>
          <a:ln/>
        </p:spPr>
      </p:sp>
      <p:sp>
        <p:nvSpPr>
          <p:cNvPr id="30" name="Shape 28"/>
          <p:cNvSpPr/>
          <p:nvPr/>
        </p:nvSpPr>
        <p:spPr>
          <a:xfrm>
            <a:off x="4572000" y="3383280"/>
            <a:ext cx="164592" cy="164592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31" name="Text 29"/>
          <p:cNvSpPr/>
          <p:nvPr/>
        </p:nvSpPr>
        <p:spPr>
          <a:xfrm>
            <a:off x="4572000" y="3383280"/>
            <a:ext cx="16459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700" dirty="0"/>
          </a:p>
        </p:txBody>
      </p:sp>
      <p:sp>
        <p:nvSpPr>
          <p:cNvPr id="32" name="Text 30"/>
          <p:cNvSpPr/>
          <p:nvPr/>
        </p:nvSpPr>
        <p:spPr>
          <a:xfrm>
            <a:off x="4846320" y="33375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Platform access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572000" y="3749040"/>
            <a:ext cx="164592" cy="164592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34" name="Text 32"/>
          <p:cNvSpPr/>
          <p:nvPr/>
        </p:nvSpPr>
        <p:spPr>
          <a:xfrm>
            <a:off x="4572000" y="3749040"/>
            <a:ext cx="16459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4846320" y="3703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Embedding + horizon heads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572000" y="4114800"/>
            <a:ext cx="164592" cy="164592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37" name="Text 35"/>
          <p:cNvSpPr/>
          <p:nvPr/>
        </p:nvSpPr>
        <p:spPr>
          <a:xfrm>
            <a:off x="4572000" y="4114800"/>
            <a:ext cx="16459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700" dirty="0"/>
          </a:p>
        </p:txBody>
      </p:sp>
      <p:sp>
        <p:nvSpPr>
          <p:cNvPr id="38" name="Text 36"/>
          <p:cNvSpPr/>
          <p:nvPr/>
        </p:nvSpPr>
        <p:spPr>
          <a:xfrm>
            <a:off x="4846320" y="40690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Regulatory shadow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572000" y="4480560"/>
            <a:ext cx="164592" cy="164592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40" name="Text 38"/>
          <p:cNvSpPr/>
          <p:nvPr/>
        </p:nvSpPr>
        <p:spPr>
          <a:xfrm>
            <a:off x="4572000" y="4480560"/>
            <a:ext cx="16459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700" dirty="0"/>
          </a:p>
        </p:txBody>
      </p:sp>
      <p:sp>
        <p:nvSpPr>
          <p:cNvPr id="41" name="Text 39"/>
          <p:cNvSpPr/>
          <p:nvPr/>
        </p:nvSpPr>
        <p:spPr>
          <a:xfrm>
            <a:off x="4846320" y="44348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 MRM support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8138160" y="2011680"/>
            <a:ext cx="3566160" cy="3931920"/>
          </a:xfrm>
          <a:prstGeom prst="roundRect">
            <a:avLst>
              <a:gd name="adj" fmla="val 3077"/>
            </a:avLst>
          </a:prstGeom>
          <a:solidFill>
            <a:srgbClr val="1A1330"/>
          </a:solidFill>
          <a:ln w="9525">
            <a:solidFill>
              <a:srgbClr val="F59E0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412480" y="228600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PERFORMANCE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8412480" y="260604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3F4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% of verified</a:t>
            </a:r>
            <a:endParaRPr lang="en-US" sz="1800" dirty="0"/>
          </a:p>
        </p:txBody>
      </p:sp>
      <p:sp>
        <p:nvSpPr>
          <p:cNvPr id="45" name="Text 43"/>
          <p:cNvSpPr/>
          <p:nvPr/>
        </p:nvSpPr>
        <p:spPr>
          <a:xfrm>
            <a:off x="8412480" y="2926080"/>
            <a:ext cx="3017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loss reduction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8412480" y="3246120"/>
            <a:ext cx="3017520" cy="9144"/>
          </a:xfrm>
          <a:prstGeom prst="rect">
            <a:avLst/>
          </a:prstGeom>
          <a:solidFill>
            <a:srgbClr val="374151"/>
          </a:solidFill>
          <a:ln/>
        </p:spPr>
      </p:sp>
      <p:sp>
        <p:nvSpPr>
          <p:cNvPr id="47" name="Shape 45"/>
          <p:cNvSpPr/>
          <p:nvPr/>
        </p:nvSpPr>
        <p:spPr>
          <a:xfrm>
            <a:off x="8412480" y="3383280"/>
            <a:ext cx="164592" cy="164592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48" name="Text 46"/>
          <p:cNvSpPr/>
          <p:nvPr/>
        </p:nvSpPr>
        <p:spPr>
          <a:xfrm>
            <a:off x="8412480" y="3383280"/>
            <a:ext cx="16459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700" dirty="0"/>
          </a:p>
        </p:txBody>
      </p:sp>
      <p:sp>
        <p:nvSpPr>
          <p:cNvPr id="49" name="Text 47"/>
          <p:cNvSpPr/>
          <p:nvPr/>
        </p:nvSpPr>
        <p:spPr>
          <a:xfrm>
            <a:off x="8686800" y="33375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Indexed to baseline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8412480" y="3749040"/>
            <a:ext cx="164592" cy="164592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51" name="Text 49"/>
          <p:cNvSpPr/>
          <p:nvPr/>
        </p:nvSpPr>
        <p:spPr>
          <a:xfrm>
            <a:off x="8412480" y="3749040"/>
            <a:ext cx="16459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700" dirty="0"/>
          </a:p>
        </p:txBody>
      </p:sp>
      <p:sp>
        <p:nvSpPr>
          <p:cNvPr id="52" name="Text 50"/>
          <p:cNvSpPr/>
          <p:nvPr/>
        </p:nvSpPr>
        <p:spPr>
          <a:xfrm>
            <a:off x="8686800" y="3703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Audited quarterly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8412480" y="4114800"/>
            <a:ext cx="164592" cy="164592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54" name="Text 52"/>
          <p:cNvSpPr/>
          <p:nvPr/>
        </p:nvSpPr>
        <p:spPr>
          <a:xfrm>
            <a:off x="8412480" y="4114800"/>
            <a:ext cx="16459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700" dirty="0"/>
          </a:p>
        </p:txBody>
      </p:sp>
      <p:sp>
        <p:nvSpPr>
          <p:cNvPr id="55" name="Text 53"/>
          <p:cNvSpPr/>
          <p:nvPr/>
        </p:nvSpPr>
        <p:spPr>
          <a:xfrm>
            <a:off x="8686800" y="40690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Aligns P&amp;L with yours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8412480" y="4480560"/>
            <a:ext cx="164592" cy="164592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57" name="Text 55"/>
          <p:cNvSpPr/>
          <p:nvPr/>
        </p:nvSpPr>
        <p:spPr>
          <a:xfrm>
            <a:off x="8412480" y="4480560"/>
            <a:ext cx="16459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700" dirty="0"/>
          </a:p>
        </p:txBody>
      </p:sp>
      <p:sp>
        <p:nvSpPr>
          <p:cNvPr id="58" name="Text 56"/>
          <p:cNvSpPr/>
          <p:nvPr/>
        </p:nvSpPr>
        <p:spPr>
          <a:xfrm>
            <a:off x="8686800" y="44348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Capped at 3× base fee</a:t>
            </a:r>
            <a:endParaRPr lang="en-US" sz="1000" dirty="0"/>
          </a:p>
        </p:txBody>
      </p:sp>
      <p:sp>
        <p:nvSpPr>
          <p:cNvPr id="59" name="Text 57"/>
          <p:cNvSpPr/>
          <p:nvPr/>
        </p:nvSpPr>
        <p:spPr>
          <a:xfrm>
            <a:off x="457200" y="644652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AURA  ·  CONTINUUM RISK LABS</a:t>
            </a:r>
            <a:endParaRPr lang="en-US" sz="800" dirty="0"/>
          </a:p>
        </p:txBody>
      </p:sp>
      <p:sp>
        <p:nvSpPr>
          <p:cNvPr id="60" name="Text 58"/>
          <p:cNvSpPr/>
          <p:nvPr/>
        </p:nvSpPr>
        <p:spPr>
          <a:xfrm>
            <a:off x="10515600" y="644652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 / 14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06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54864" cy="29260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20040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 · IMPACT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1520" y="82296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3F4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Projected impact.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731520" y="141732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Three-year P&amp;L impact  ·  Mid-sized bank  ·  US$50B portfolio  ·  Treated segments only</a:t>
            </a:r>
            <a:endParaRPr lang="en-US" sz="10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920240"/>
          <a:ext cx="11247120" cy="914400"/>
        </p:xfrm>
        <a:graphic>
          <a:graphicData uri="http://schemas.openxmlformats.org/drawingml/2006/table">
            <a:tbl>
              <a:tblPr/>
              <a:tblGrid>
                <a:gridCol w="3657600"/>
                <a:gridCol w="2532888"/>
                <a:gridCol w="2532888"/>
                <a:gridCol w="2532888"/>
              </a:tblGrid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0E8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Year 1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0E8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Year 2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0E8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Year 3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0E8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3F4F6"/>
                          </a:solidFill>
                        </a:rPr>
                        <a:t>Credit loss reduction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0B981"/>
                          </a:solidFill>
                        </a:rPr>
                        <a:t>10%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0B981"/>
                          </a:solidFill>
                        </a:rPr>
                        <a:t>17%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0B981"/>
                          </a:solidFill>
                        </a:rPr>
                        <a:t>25%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3F4F6"/>
                          </a:solidFill>
                        </a:rPr>
                        <a:t>Fraud loss reduction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7C3AED"/>
                          </a:solidFill>
                        </a:rPr>
                        <a:t>22%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7C3AED"/>
                          </a:solidFill>
                        </a:rPr>
                        <a:t>35%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7C3AED"/>
                          </a:solidFill>
                        </a:rPr>
                        <a:t>45%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3F4F6"/>
                          </a:solidFill>
                        </a:rPr>
                        <a:t>False-positive reduction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A78BFA"/>
                          </a:solidFill>
                        </a:rPr>
                        <a:t>6%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A78BFA"/>
                          </a:solidFill>
                        </a:rPr>
                        <a:t>12%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A78BFA"/>
                          </a:solidFill>
                        </a:rPr>
                        <a:t>20%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3F4F6"/>
                          </a:solidFill>
                        </a:rPr>
                        <a:t>P&amp;L impact (US$M)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59E0B"/>
                          </a:solidFill>
                        </a:rPr>
                        <a:t>$20M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59E0B"/>
                          </a:solidFill>
                        </a:rPr>
                        <a:t>$45M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59E0B"/>
                          </a:solidFill>
                        </a:rPr>
                        <a:t>$65M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457200" y="4023360"/>
            <a:ext cx="11247120" cy="2286000"/>
          </a:xfrm>
          <a:prstGeom prst="roundRect">
            <a:avLst>
              <a:gd name="adj" fmla="val 4000"/>
            </a:avLst>
          </a:prstGeom>
          <a:solidFill>
            <a:srgbClr val="1A1330"/>
          </a:solidFill>
          <a:ln w="9525">
            <a:solidFill>
              <a:srgbClr val="37415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31520" y="4114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P&amp;L IMPACT GROWTH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640080" y="4389120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$80M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640080" y="5029200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$40M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640080" y="5669280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$0</a:t>
            </a:r>
            <a:endParaRPr lang="en-US" sz="800" dirty="0"/>
          </a:p>
        </p:txBody>
      </p:sp>
      <p:sp>
        <p:nvSpPr>
          <p:cNvPr id="12" name="Shape 9"/>
          <p:cNvSpPr/>
          <p:nvPr/>
        </p:nvSpPr>
        <p:spPr>
          <a:xfrm>
            <a:off x="1280160" y="4526280"/>
            <a:ext cx="10058400" cy="4572"/>
          </a:xfrm>
          <a:prstGeom prst="rect">
            <a:avLst/>
          </a:prstGeom>
          <a:solidFill>
            <a:srgbClr val="374151"/>
          </a:solidFill>
          <a:ln/>
        </p:spPr>
      </p:sp>
      <p:sp>
        <p:nvSpPr>
          <p:cNvPr id="13" name="Shape 10"/>
          <p:cNvSpPr/>
          <p:nvPr/>
        </p:nvSpPr>
        <p:spPr>
          <a:xfrm>
            <a:off x="1280160" y="5166360"/>
            <a:ext cx="10058400" cy="4572"/>
          </a:xfrm>
          <a:prstGeom prst="rect">
            <a:avLst/>
          </a:prstGeom>
          <a:solidFill>
            <a:srgbClr val="374151"/>
          </a:solidFill>
          <a:ln/>
        </p:spPr>
      </p:sp>
      <p:sp>
        <p:nvSpPr>
          <p:cNvPr id="14" name="Shape 11"/>
          <p:cNvSpPr/>
          <p:nvPr/>
        </p:nvSpPr>
        <p:spPr>
          <a:xfrm>
            <a:off x="1280160" y="5806440"/>
            <a:ext cx="10058400" cy="4572"/>
          </a:xfrm>
          <a:prstGeom prst="rect">
            <a:avLst/>
          </a:prstGeom>
          <a:solidFill>
            <a:srgbClr val="374151"/>
          </a:solidFill>
          <a:ln/>
        </p:spPr>
      </p:sp>
      <p:sp>
        <p:nvSpPr>
          <p:cNvPr id="15" name="Text 12"/>
          <p:cNvSpPr/>
          <p:nvPr/>
        </p:nvSpPr>
        <p:spPr>
          <a:xfrm>
            <a:off x="1828800" y="5943600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Credit Loss ↓</a:t>
            </a:r>
            <a:endParaRPr lang="en-US" sz="800" dirty="0"/>
          </a:p>
        </p:txBody>
      </p:sp>
      <p:sp>
        <p:nvSpPr>
          <p:cNvPr id="16" name="Shape 13"/>
          <p:cNvSpPr/>
          <p:nvPr/>
        </p:nvSpPr>
        <p:spPr>
          <a:xfrm>
            <a:off x="1828800" y="5257800"/>
            <a:ext cx="731520" cy="548640"/>
          </a:xfrm>
          <a:prstGeom prst="roundRect">
            <a:avLst>
              <a:gd name="adj" fmla="val 6667"/>
            </a:avLst>
          </a:prstGeom>
          <a:solidFill>
            <a:srgbClr val="10B981">
              <a:alpha val="50000"/>
            </a:srgbClr>
          </a:solidFill>
          <a:ln/>
        </p:spPr>
      </p:sp>
      <p:sp>
        <p:nvSpPr>
          <p:cNvPr id="17" name="Shape 14"/>
          <p:cNvSpPr/>
          <p:nvPr/>
        </p:nvSpPr>
        <p:spPr>
          <a:xfrm>
            <a:off x="2743200" y="5394960"/>
            <a:ext cx="731520" cy="411480"/>
          </a:xfrm>
          <a:prstGeom prst="roundRect">
            <a:avLst>
              <a:gd name="adj" fmla="val 8889"/>
            </a:avLst>
          </a:prstGeom>
          <a:solidFill>
            <a:srgbClr val="10B981">
              <a:alpha val="70000"/>
            </a:srgbClr>
          </a:solidFill>
          <a:ln/>
        </p:spPr>
      </p:sp>
      <p:sp>
        <p:nvSpPr>
          <p:cNvPr id="18" name="Shape 15"/>
          <p:cNvSpPr/>
          <p:nvPr/>
        </p:nvSpPr>
        <p:spPr>
          <a:xfrm>
            <a:off x="3657600" y="5212080"/>
            <a:ext cx="731520" cy="594360"/>
          </a:xfrm>
          <a:prstGeom prst="roundRect">
            <a:avLst>
              <a:gd name="adj" fmla="val 6154"/>
            </a:avLst>
          </a:prstGeom>
          <a:solidFill>
            <a:srgbClr val="10B981"/>
          </a:solidFill>
          <a:ln/>
        </p:spPr>
      </p:sp>
      <p:sp>
        <p:nvSpPr>
          <p:cNvPr id="19" name="Text 16"/>
          <p:cNvSpPr/>
          <p:nvPr/>
        </p:nvSpPr>
        <p:spPr>
          <a:xfrm>
            <a:off x="5303520" y="5943600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Fraud Loss ↓</a:t>
            </a:r>
            <a:endParaRPr lang="en-US" sz="800" dirty="0"/>
          </a:p>
        </p:txBody>
      </p:sp>
      <p:sp>
        <p:nvSpPr>
          <p:cNvPr id="20" name="Shape 17"/>
          <p:cNvSpPr/>
          <p:nvPr/>
        </p:nvSpPr>
        <p:spPr>
          <a:xfrm>
            <a:off x="5303520" y="5029200"/>
            <a:ext cx="731520" cy="777240"/>
          </a:xfrm>
          <a:prstGeom prst="roundRect">
            <a:avLst>
              <a:gd name="adj" fmla="val 5000"/>
            </a:avLst>
          </a:prstGeom>
          <a:solidFill>
            <a:srgbClr val="7C3AED">
              <a:alpha val="50000"/>
            </a:srgbClr>
          </a:solidFill>
          <a:ln/>
        </p:spPr>
      </p:sp>
      <p:sp>
        <p:nvSpPr>
          <p:cNvPr id="21" name="Shape 18"/>
          <p:cNvSpPr/>
          <p:nvPr/>
        </p:nvSpPr>
        <p:spPr>
          <a:xfrm>
            <a:off x="6217920" y="4709160"/>
            <a:ext cx="731520" cy="1097280"/>
          </a:xfrm>
          <a:prstGeom prst="roundRect">
            <a:avLst>
              <a:gd name="adj" fmla="val 5000"/>
            </a:avLst>
          </a:prstGeom>
          <a:solidFill>
            <a:srgbClr val="7C3AED">
              <a:alpha val="70000"/>
            </a:srgbClr>
          </a:solidFill>
          <a:ln/>
        </p:spPr>
      </p:sp>
      <p:sp>
        <p:nvSpPr>
          <p:cNvPr id="22" name="Shape 19"/>
          <p:cNvSpPr/>
          <p:nvPr/>
        </p:nvSpPr>
        <p:spPr>
          <a:xfrm>
            <a:off x="7132320" y="4434840"/>
            <a:ext cx="731520" cy="1371600"/>
          </a:xfrm>
          <a:prstGeom prst="roundRect">
            <a:avLst>
              <a:gd name="adj" fmla="val 5000"/>
            </a:avLst>
          </a:prstGeom>
          <a:solidFill>
            <a:srgbClr val="7C3AED"/>
          </a:solidFill>
          <a:ln/>
        </p:spPr>
      </p:sp>
      <p:sp>
        <p:nvSpPr>
          <p:cNvPr id="23" name="Text 20"/>
          <p:cNvSpPr/>
          <p:nvPr/>
        </p:nvSpPr>
        <p:spPr>
          <a:xfrm>
            <a:off x="8778240" y="5943600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FP Reduction</a:t>
            </a:r>
            <a:endParaRPr lang="en-US" sz="800" dirty="0"/>
          </a:p>
        </p:txBody>
      </p:sp>
      <p:sp>
        <p:nvSpPr>
          <p:cNvPr id="24" name="Shape 21"/>
          <p:cNvSpPr/>
          <p:nvPr/>
        </p:nvSpPr>
        <p:spPr>
          <a:xfrm>
            <a:off x="8778240" y="5623560"/>
            <a:ext cx="731520" cy="182880"/>
          </a:xfrm>
          <a:prstGeom prst="roundRect">
            <a:avLst>
              <a:gd name="adj" fmla="val 20000"/>
            </a:avLst>
          </a:prstGeom>
          <a:solidFill>
            <a:srgbClr val="A78BFA">
              <a:alpha val="50000"/>
            </a:srgbClr>
          </a:solidFill>
          <a:ln/>
        </p:spPr>
      </p:sp>
      <p:sp>
        <p:nvSpPr>
          <p:cNvPr id="25" name="Shape 22"/>
          <p:cNvSpPr/>
          <p:nvPr/>
        </p:nvSpPr>
        <p:spPr>
          <a:xfrm>
            <a:off x="9692640" y="5440680"/>
            <a:ext cx="731520" cy="365760"/>
          </a:xfrm>
          <a:prstGeom prst="roundRect">
            <a:avLst>
              <a:gd name="adj" fmla="val 10000"/>
            </a:avLst>
          </a:prstGeom>
          <a:solidFill>
            <a:srgbClr val="A78BFA">
              <a:alpha val="70000"/>
            </a:srgbClr>
          </a:solidFill>
          <a:ln/>
        </p:spPr>
      </p:sp>
      <p:sp>
        <p:nvSpPr>
          <p:cNvPr id="26" name="Shape 23"/>
          <p:cNvSpPr/>
          <p:nvPr/>
        </p:nvSpPr>
        <p:spPr>
          <a:xfrm>
            <a:off x="10607040" y="5212080"/>
            <a:ext cx="731520" cy="594360"/>
          </a:xfrm>
          <a:prstGeom prst="roundRect">
            <a:avLst>
              <a:gd name="adj" fmla="val 6154"/>
            </a:avLst>
          </a:prstGeom>
          <a:solidFill>
            <a:srgbClr val="A78BFA"/>
          </a:solidFill>
          <a:ln/>
        </p:spPr>
      </p:sp>
      <p:sp>
        <p:nvSpPr>
          <p:cNvPr id="27" name="Text 24"/>
          <p:cNvSpPr/>
          <p:nvPr/>
        </p:nvSpPr>
        <p:spPr>
          <a:xfrm>
            <a:off x="1828800" y="4480560"/>
            <a:ext cx="237744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Y1</a:t>
            </a:r>
            <a:endParaRPr lang="en-US" sz="700" dirty="0"/>
          </a:p>
        </p:txBody>
      </p:sp>
      <p:sp>
        <p:nvSpPr>
          <p:cNvPr id="28" name="Text 25"/>
          <p:cNvSpPr/>
          <p:nvPr/>
        </p:nvSpPr>
        <p:spPr>
          <a:xfrm>
            <a:off x="5303520" y="4480560"/>
            <a:ext cx="237744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Y2</a:t>
            </a:r>
            <a:endParaRPr lang="en-US" sz="700" dirty="0"/>
          </a:p>
        </p:txBody>
      </p:sp>
      <p:sp>
        <p:nvSpPr>
          <p:cNvPr id="29" name="Text 26"/>
          <p:cNvSpPr/>
          <p:nvPr/>
        </p:nvSpPr>
        <p:spPr>
          <a:xfrm>
            <a:off x="8778240" y="4480560"/>
            <a:ext cx="237744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Y3</a:t>
            </a:r>
            <a:endParaRPr lang="en-US" sz="700" dirty="0"/>
          </a:p>
        </p:txBody>
      </p:sp>
      <p:sp>
        <p:nvSpPr>
          <p:cNvPr id="30" name="Text 27"/>
          <p:cNvSpPr/>
          <p:nvPr/>
        </p:nvSpPr>
        <p:spPr>
          <a:xfrm>
            <a:off x="457200" y="644652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AURA  ·  CONTINUUM RISK LABS</a:t>
            </a:r>
            <a:endParaRPr lang="en-US" sz="800" dirty="0"/>
          </a:p>
        </p:txBody>
      </p:sp>
      <p:sp>
        <p:nvSpPr>
          <p:cNvPr id="31" name="Text 28"/>
          <p:cNvSpPr/>
          <p:nvPr/>
        </p:nvSpPr>
        <p:spPr>
          <a:xfrm>
            <a:off x="10515600" y="644652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/ 14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06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54864" cy="29260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20040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· ROADMAP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1520" y="82296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3F4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 months. 4 phases. 1 gate per phase.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2377440"/>
            <a:ext cx="11247120" cy="36576"/>
          </a:xfrm>
          <a:prstGeom prst="rect">
            <a:avLst/>
          </a:prstGeom>
          <a:solidFill>
            <a:srgbClr val="4A0E8F"/>
          </a:solidFill>
          <a:ln/>
        </p:spPr>
      </p:sp>
      <p:sp>
        <p:nvSpPr>
          <p:cNvPr id="6" name="Shape 4"/>
          <p:cNvSpPr/>
          <p:nvPr/>
        </p:nvSpPr>
        <p:spPr>
          <a:xfrm>
            <a:off x="1554480" y="2240280"/>
            <a:ext cx="320040" cy="320040"/>
          </a:xfrm>
          <a:prstGeom prst="ellipse">
            <a:avLst/>
          </a:prstGeom>
          <a:solidFill>
            <a:srgbClr val="A78BFA"/>
          </a:solidFill>
          <a:ln/>
        </p:spPr>
      </p:sp>
      <p:sp>
        <p:nvSpPr>
          <p:cNvPr id="7" name="Text 5"/>
          <p:cNvSpPr/>
          <p:nvPr/>
        </p:nvSpPr>
        <p:spPr>
          <a:xfrm>
            <a:off x="1554480" y="224028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" y="2743200"/>
            <a:ext cx="2697480" cy="3200400"/>
          </a:xfrm>
          <a:prstGeom prst="roundRect">
            <a:avLst>
              <a:gd name="adj" fmla="val 4068"/>
            </a:avLst>
          </a:prstGeom>
          <a:solidFill>
            <a:srgbClr val="1A1330"/>
          </a:solidFill>
          <a:ln w="9525">
            <a:solidFill>
              <a:srgbClr val="A78BF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2834640"/>
            <a:ext cx="2423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0–6 mo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94360" y="3063240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3F4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Shadow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94360" y="3429000"/>
            <a:ext cx="2423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embedding + doppelgängers. Run as shadow. Measure divergence.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94360" y="4663440"/>
            <a:ext cx="2423160" cy="9144"/>
          </a:xfrm>
          <a:prstGeom prst="rect">
            <a:avLst/>
          </a:prstGeom>
          <a:solidFill>
            <a:srgbClr val="A78BFA">
              <a:alpha val="50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594360" y="4800600"/>
            <a:ext cx="1280160" cy="256032"/>
          </a:xfrm>
          <a:prstGeom prst="roundRect">
            <a:avLst>
              <a:gd name="adj" fmla="val 50000"/>
            </a:avLst>
          </a:prstGeom>
          <a:solidFill>
            <a:srgbClr val="A78BFA"/>
          </a:solidFill>
          <a:ln/>
        </p:spPr>
      </p:sp>
      <p:sp>
        <p:nvSpPr>
          <p:cNvPr id="14" name="Text 12"/>
          <p:cNvSpPr/>
          <p:nvPr/>
        </p:nvSpPr>
        <p:spPr>
          <a:xfrm>
            <a:off x="594360" y="4800600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EXIT GATE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594360" y="5074920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Divergence baseline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434840" y="2240280"/>
            <a:ext cx="320040" cy="32004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7" name="Text 15"/>
          <p:cNvSpPr/>
          <p:nvPr/>
        </p:nvSpPr>
        <p:spPr>
          <a:xfrm>
            <a:off x="4434840" y="224028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337560" y="2743200"/>
            <a:ext cx="2697480" cy="3200400"/>
          </a:xfrm>
          <a:prstGeom prst="roundRect">
            <a:avLst>
              <a:gd name="adj" fmla="val 4068"/>
            </a:avLst>
          </a:prstGeom>
          <a:solidFill>
            <a:srgbClr val="1A1330"/>
          </a:solidFill>
          <a:ln w="9525">
            <a:solidFill>
              <a:srgbClr val="7C3AE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474720" y="2834640"/>
            <a:ext cx="2423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6–12 mo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474720" y="3063240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3F4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 Telescopes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3474720" y="3429000"/>
            <a:ext cx="2423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 horizon heads. Live decisions on low-risk segments.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474720" y="4663440"/>
            <a:ext cx="2423160" cy="9144"/>
          </a:xfrm>
          <a:prstGeom prst="rect">
            <a:avLst/>
          </a:prstGeom>
          <a:solidFill>
            <a:srgbClr val="7C3AED">
              <a:alpha val="50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3474720" y="4800600"/>
            <a:ext cx="1280160" cy="256032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/>
        </p:spPr>
      </p:sp>
      <p:sp>
        <p:nvSpPr>
          <p:cNvPr id="24" name="Text 22"/>
          <p:cNvSpPr/>
          <p:nvPr/>
        </p:nvSpPr>
        <p:spPr>
          <a:xfrm>
            <a:off x="3474720" y="4800600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EXIT GATE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3474720" y="5074920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FP reduction ≥ 5%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7315200" y="2240280"/>
            <a:ext cx="320040" cy="32004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27" name="Text 25"/>
          <p:cNvSpPr/>
          <p:nvPr/>
        </p:nvSpPr>
        <p:spPr>
          <a:xfrm>
            <a:off x="7315200" y="224028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217920" y="2743200"/>
            <a:ext cx="2697480" cy="3200400"/>
          </a:xfrm>
          <a:prstGeom prst="roundRect">
            <a:avLst>
              <a:gd name="adj" fmla="val 4068"/>
            </a:avLst>
          </a:prstGeom>
          <a:solidFill>
            <a:srgbClr val="1A1330"/>
          </a:solidFill>
          <a:ln w="9525">
            <a:solidFill>
              <a:srgbClr val="F59E0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355080" y="2834640"/>
            <a:ext cx="2423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12–24 mo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355080" y="3063240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3F4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Loop + Arena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6355080" y="3429000"/>
            <a:ext cx="2423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Counterfactual replay + Arena live. Train on adversarial exploits.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355080" y="4663440"/>
            <a:ext cx="2423160" cy="9144"/>
          </a:xfrm>
          <a:prstGeom prst="rect">
            <a:avLst/>
          </a:prstGeom>
          <a:solidFill>
            <a:srgbClr val="F59E0B">
              <a:alpha val="50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6355080" y="4800600"/>
            <a:ext cx="1280160" cy="256032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/>
        </p:spPr>
      </p:sp>
      <p:sp>
        <p:nvSpPr>
          <p:cNvPr id="34" name="Text 32"/>
          <p:cNvSpPr/>
          <p:nvPr/>
        </p:nvSpPr>
        <p:spPr>
          <a:xfrm>
            <a:off x="6355080" y="4800600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EXIT GATE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6355080" y="5074920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Credit loss ↓ ≥ 10%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10195560" y="2240280"/>
            <a:ext cx="320040" cy="32004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37" name="Text 35"/>
          <p:cNvSpPr/>
          <p:nvPr/>
        </p:nvSpPr>
        <p:spPr>
          <a:xfrm>
            <a:off x="10195560" y="224028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9098280" y="2743200"/>
            <a:ext cx="2697480" cy="3200400"/>
          </a:xfrm>
          <a:prstGeom prst="roundRect">
            <a:avLst>
              <a:gd name="adj" fmla="val 4068"/>
            </a:avLst>
          </a:prstGeom>
          <a:solidFill>
            <a:srgbClr val="1A1330"/>
          </a:solidFill>
          <a:ln w="9525">
            <a:solidFill>
              <a:srgbClr val="10B981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9235440" y="2834640"/>
            <a:ext cx="2423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24–36 mo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9235440" y="3063240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3F4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Genome + Action</a:t>
            </a:r>
            <a:endParaRPr lang="en-US" sz="1500" dirty="0"/>
          </a:p>
        </p:txBody>
      </p:sp>
      <p:sp>
        <p:nvSpPr>
          <p:cNvPr id="41" name="Text 39"/>
          <p:cNvSpPr/>
          <p:nvPr/>
        </p:nvSpPr>
        <p:spPr>
          <a:xfrm>
            <a:off x="9235440" y="3429000"/>
            <a:ext cx="2423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Field + Action Layer live. Graph-explainable migration.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9235440" y="4663440"/>
            <a:ext cx="2423160" cy="9144"/>
          </a:xfrm>
          <a:prstGeom prst="rect">
            <a:avLst/>
          </a:prstGeom>
          <a:solidFill>
            <a:srgbClr val="10B981">
              <a:alpha val="50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9235440" y="4800600"/>
            <a:ext cx="1280160" cy="256032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/>
        </p:spPr>
      </p:sp>
      <p:sp>
        <p:nvSpPr>
          <p:cNvPr id="44" name="Text 42"/>
          <p:cNvSpPr/>
          <p:nvPr/>
        </p:nvSpPr>
        <p:spPr>
          <a:xfrm>
            <a:off x="9235440" y="4800600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EXIT GATE</a:t>
            </a:r>
            <a:endParaRPr lang="en-US" sz="700" dirty="0"/>
          </a:p>
        </p:txBody>
      </p:sp>
      <p:sp>
        <p:nvSpPr>
          <p:cNvPr id="45" name="Text 43"/>
          <p:cNvSpPr/>
          <p:nvPr/>
        </p:nvSpPr>
        <p:spPr>
          <a:xfrm>
            <a:off x="9235440" y="5074920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deployment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457200" y="644652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AURA  ·  CONTINUUM RISK LABS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10515600" y="644652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/ 14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06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54864" cy="29260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20040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· TEAM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1520" y="82296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3F4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intersection that makes AURA possible.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2697480" cy="4389120"/>
          </a:xfrm>
          <a:prstGeom prst="roundRect">
            <a:avLst>
              <a:gd name="adj" fmla="val 4068"/>
            </a:avLst>
          </a:prstGeom>
          <a:solidFill>
            <a:srgbClr val="1A1330"/>
          </a:solidFill>
          <a:ln w="9525">
            <a:solidFill>
              <a:srgbClr val="7C3AE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234440" y="1737360"/>
            <a:ext cx="1097280" cy="109728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7" name="Text 5"/>
          <p:cNvSpPr/>
          <p:nvPr/>
        </p:nvSpPr>
        <p:spPr>
          <a:xfrm>
            <a:off x="1234440" y="173736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1143000" y="1645920"/>
            <a:ext cx="1280160" cy="1280160"/>
          </a:xfrm>
          <a:prstGeom prst="ellipse">
            <a:avLst/>
          </a:prstGeom>
          <a:solidFill>
            <a:srgbClr val="7C3AED">
              <a:alpha val="20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594360" y="2971800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3F4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Dr. Maya Chen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94360" y="3246120"/>
            <a:ext cx="2423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CEO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914400" y="3611880"/>
            <a:ext cx="1783080" cy="9144"/>
          </a:xfrm>
          <a:prstGeom prst="rect">
            <a:avLst/>
          </a:prstGeom>
          <a:solidFill>
            <a:srgbClr val="7C3AED">
              <a:alpha val="50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594360" y="3749040"/>
            <a:ext cx="24231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Ex-CRO, DBS Consumer Bank.</a:t>
            </a:r>
            <a:endParaRPr lang="en-US" sz="10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 yrs APAC retail credit.</a:t>
            </a:r>
            <a:endParaRPr lang="en-US" sz="10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Led DBS model-risk</a:t>
            </a:r>
            <a:endParaRPr lang="en-US" sz="10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transformation (2019–23).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337560" y="1554480"/>
            <a:ext cx="2697480" cy="4389120"/>
          </a:xfrm>
          <a:prstGeom prst="roundRect">
            <a:avLst>
              <a:gd name="adj" fmla="val 4068"/>
            </a:avLst>
          </a:prstGeom>
          <a:solidFill>
            <a:srgbClr val="1A1330"/>
          </a:solidFill>
          <a:ln w="9525">
            <a:solidFill>
              <a:srgbClr val="A78BF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114800" y="1737360"/>
            <a:ext cx="1097280" cy="1097280"/>
          </a:xfrm>
          <a:prstGeom prst="ellipse">
            <a:avLst/>
          </a:prstGeom>
          <a:solidFill>
            <a:srgbClr val="A78BFA"/>
          </a:solidFill>
          <a:ln/>
        </p:spPr>
      </p:sp>
      <p:sp>
        <p:nvSpPr>
          <p:cNvPr id="15" name="Text 13"/>
          <p:cNvSpPr/>
          <p:nvPr/>
        </p:nvSpPr>
        <p:spPr>
          <a:xfrm>
            <a:off x="4114800" y="173736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</a:t>
            </a:r>
            <a:endParaRPr lang="en-US" sz="2800" dirty="0"/>
          </a:p>
        </p:txBody>
      </p:sp>
      <p:sp>
        <p:nvSpPr>
          <p:cNvPr id="16" name="Shape 14"/>
          <p:cNvSpPr/>
          <p:nvPr/>
        </p:nvSpPr>
        <p:spPr>
          <a:xfrm>
            <a:off x="4023360" y="1645920"/>
            <a:ext cx="1280160" cy="1280160"/>
          </a:xfrm>
          <a:prstGeom prst="ellipse">
            <a:avLst/>
          </a:prstGeom>
          <a:solidFill>
            <a:srgbClr val="A78BFA">
              <a:alpha val="20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0" y="2971800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3F4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Arjun Patel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474720" y="3246120"/>
            <a:ext cx="2423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CTO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794760" y="3611880"/>
            <a:ext cx="1783080" cy="9144"/>
          </a:xfrm>
          <a:prstGeom prst="rect">
            <a:avLst/>
          </a:prstGeom>
          <a:solidFill>
            <a:srgbClr val="A78BFA">
              <a:alpha val="50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3474720" y="3749040"/>
            <a:ext cx="24231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fraud ML at Stripe</a:t>
            </a:r>
            <a:endParaRPr lang="en-US" sz="10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&amp; Paytm. Feature stores</a:t>
            </a:r>
            <a:endParaRPr lang="en-US" sz="10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 12M QPS.</a:t>
            </a:r>
            <a:endParaRPr lang="en-US" sz="10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Stanford CS PhD candidate.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217920" y="1554480"/>
            <a:ext cx="2697480" cy="4389120"/>
          </a:xfrm>
          <a:prstGeom prst="roundRect">
            <a:avLst>
              <a:gd name="adj" fmla="val 4068"/>
            </a:avLst>
          </a:prstGeom>
          <a:solidFill>
            <a:srgbClr val="1A1330"/>
          </a:solidFill>
          <a:ln w="9525">
            <a:solidFill>
              <a:srgbClr val="10B98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995160" y="1737360"/>
            <a:ext cx="1097280" cy="109728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3" name="Text 21"/>
          <p:cNvSpPr/>
          <p:nvPr/>
        </p:nvSpPr>
        <p:spPr>
          <a:xfrm>
            <a:off x="6995160" y="173736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LP</a:t>
            </a:r>
            <a:endParaRPr lang="en-US" sz="2800" dirty="0"/>
          </a:p>
        </p:txBody>
      </p:sp>
      <p:sp>
        <p:nvSpPr>
          <p:cNvPr id="24" name="Shape 22"/>
          <p:cNvSpPr/>
          <p:nvPr/>
        </p:nvSpPr>
        <p:spPr>
          <a:xfrm>
            <a:off x="6903720" y="1645920"/>
            <a:ext cx="1280160" cy="1280160"/>
          </a:xfrm>
          <a:prstGeom prst="ellipse">
            <a:avLst/>
          </a:prstGeom>
          <a:solidFill>
            <a:srgbClr val="10B981">
              <a:alpha val="20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6355080" y="2971800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3F4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Dr. Lena Petrova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355080" y="3246120"/>
            <a:ext cx="2423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CHIEF SCIENTIST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6675120" y="3611880"/>
            <a:ext cx="1783080" cy="9144"/>
          </a:xfrm>
          <a:prstGeom prst="rect">
            <a:avLst/>
          </a:prstGeom>
          <a:solidFill>
            <a:srgbClr val="10B981">
              <a:alpha val="50000"/>
            </a:srgbClr>
          </a:solidFill>
          <a:ln/>
        </p:spPr>
      </p:sp>
      <p:sp>
        <p:nvSpPr>
          <p:cNvPr id="28" name="Text 26"/>
          <p:cNvSpPr/>
          <p:nvPr/>
        </p:nvSpPr>
        <p:spPr>
          <a:xfrm>
            <a:off x="6355080" y="3749040"/>
            <a:ext cx="24231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Co-author, doubly-robust</a:t>
            </a:r>
            <a:endParaRPr lang="en-US" sz="10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counterfactual paper</a:t>
            </a:r>
            <a:endParaRPr lang="en-US" sz="10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(JMLR 2021).</a:t>
            </a:r>
            <a:endParaRPr lang="en-US" sz="10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Ex-Microsoft Research NYC.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9098280" y="1554480"/>
            <a:ext cx="2697480" cy="4389120"/>
          </a:xfrm>
          <a:prstGeom prst="roundRect">
            <a:avLst>
              <a:gd name="adj" fmla="val 4068"/>
            </a:avLst>
          </a:prstGeom>
          <a:solidFill>
            <a:srgbClr val="1A1330"/>
          </a:solidFill>
          <a:ln w="9525">
            <a:solidFill>
              <a:srgbClr val="F59E0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9875520" y="1737360"/>
            <a:ext cx="1097280" cy="109728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31" name="Text 29"/>
          <p:cNvSpPr/>
          <p:nvPr/>
        </p:nvSpPr>
        <p:spPr>
          <a:xfrm>
            <a:off x="9875520" y="173736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</a:t>
            </a:r>
            <a:endParaRPr lang="en-US" sz="2800" dirty="0"/>
          </a:p>
        </p:txBody>
      </p:sp>
      <p:sp>
        <p:nvSpPr>
          <p:cNvPr id="32" name="Shape 30"/>
          <p:cNvSpPr/>
          <p:nvPr/>
        </p:nvSpPr>
        <p:spPr>
          <a:xfrm>
            <a:off x="9784080" y="1645920"/>
            <a:ext cx="1280160" cy="1280160"/>
          </a:xfrm>
          <a:prstGeom prst="ellipse">
            <a:avLst/>
          </a:prstGeom>
          <a:solidFill>
            <a:srgbClr val="F59E0B">
              <a:alpha val="20000"/>
            </a:srgbClr>
          </a:solidFill>
          <a:ln/>
        </p:spPr>
      </p:sp>
      <p:sp>
        <p:nvSpPr>
          <p:cNvPr id="33" name="Text 31"/>
          <p:cNvSpPr/>
          <p:nvPr/>
        </p:nvSpPr>
        <p:spPr>
          <a:xfrm>
            <a:off x="9235440" y="2971800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3F4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Marcus Tan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9235440" y="3246120"/>
            <a:ext cx="2423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HEAD OF REG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9555480" y="3611880"/>
            <a:ext cx="1783080" cy="9144"/>
          </a:xfrm>
          <a:prstGeom prst="rect">
            <a:avLst/>
          </a:prstGeom>
          <a:solidFill>
            <a:srgbClr val="F59E0B">
              <a:alpha val="50000"/>
            </a:srgbClr>
          </a:solidFill>
          <a:ln/>
        </p:spPr>
      </p:sp>
      <p:sp>
        <p:nvSpPr>
          <p:cNvPr id="36" name="Text 34"/>
          <p:cNvSpPr/>
          <p:nvPr/>
        </p:nvSpPr>
        <p:spPr>
          <a:xfrm>
            <a:off x="9235440" y="3749040"/>
            <a:ext cx="24231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Ex-MAS regulator (TRM).</a:t>
            </a:r>
            <a:endParaRPr lang="en-US" sz="10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Authored MAS model-risk</a:t>
            </a:r>
            <a:endParaRPr lang="en-US" sz="10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notice. Ships AURA</a:t>
            </a:r>
            <a:endParaRPr lang="en-US" sz="10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audit-ready.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57200" y="6080760"/>
            <a:ext cx="11247120" cy="320040"/>
          </a:xfrm>
          <a:prstGeom prst="roundRect">
            <a:avLst>
              <a:gd name="adj" fmla="val 17143"/>
            </a:avLst>
          </a:prstGeom>
          <a:solidFill>
            <a:srgbClr val="1A1330"/>
          </a:solidFill>
          <a:ln w="9525">
            <a:solidFill>
              <a:srgbClr val="7C3AED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57200" y="6080760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✦  Combined: 50+ years in credit risk, fraud ML, causal inference, and MAS regulation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457200" y="6446520"/>
            <a:ext cx="11247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NOTE  Names shown are placeholders — replace with actual founders prior to submission.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457200" y="644652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AURA  ·  CONTINUUM RISK LABS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10515600" y="644652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/ 14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06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54864" cy="29260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20040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· THE ASK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1520" y="82296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3F4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Ninety days. Zero risk.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457200" y="1737360"/>
            <a:ext cx="11247120" cy="822960"/>
          </a:xfrm>
          <a:prstGeom prst="roundRect">
            <a:avLst>
              <a:gd name="adj" fmla="val 13333"/>
            </a:avLst>
          </a:prstGeom>
          <a:solidFill>
            <a:srgbClr val="1A1330"/>
          </a:solidFill>
          <a:ln w="9525">
            <a:solidFill>
              <a:srgbClr val="7C3AE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1920240"/>
            <a:ext cx="457200" cy="45720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9202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🔄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371600" y="18288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3F4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90-day shadow deployment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371600" y="21488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licence · single product line · establish divergence baseline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0058400" y="2011680"/>
            <a:ext cx="640080" cy="256032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/>
        </p:spPr>
      </p:sp>
      <p:sp>
        <p:nvSpPr>
          <p:cNvPr id="11" name="Text 9"/>
          <p:cNvSpPr/>
          <p:nvPr/>
        </p:nvSpPr>
        <p:spPr>
          <a:xfrm>
            <a:off x="10058400" y="2011680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700" dirty="0"/>
          </a:p>
        </p:txBody>
      </p:sp>
      <p:sp>
        <p:nvSpPr>
          <p:cNvPr id="12" name="Shape 10"/>
          <p:cNvSpPr/>
          <p:nvPr/>
        </p:nvSpPr>
        <p:spPr>
          <a:xfrm>
            <a:off x="457200" y="2743200"/>
            <a:ext cx="11247120" cy="822960"/>
          </a:xfrm>
          <a:prstGeom prst="roundRect">
            <a:avLst>
              <a:gd name="adj" fmla="val 13333"/>
            </a:avLst>
          </a:prstGeom>
          <a:solidFill>
            <a:srgbClr val="1A1330"/>
          </a:solidFill>
          <a:ln w="9525">
            <a:solidFill>
              <a:srgbClr val="7C3AE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31520" y="2926080"/>
            <a:ext cx="457200" cy="45720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29260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👤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371600" y="28346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3F4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sponsor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371600" y="315468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 or CDO level · convene credit, fraud, model-risk functions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10058400" y="3017520"/>
            <a:ext cx="640080" cy="256032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/>
        </p:spPr>
      </p:sp>
      <p:sp>
        <p:nvSpPr>
          <p:cNvPr id="18" name="Text 16"/>
          <p:cNvSpPr/>
          <p:nvPr/>
        </p:nvSpPr>
        <p:spPr>
          <a:xfrm>
            <a:off x="10058400" y="3017520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700" dirty="0"/>
          </a:p>
        </p:txBody>
      </p:sp>
      <p:sp>
        <p:nvSpPr>
          <p:cNvPr id="19" name="Shape 17"/>
          <p:cNvSpPr/>
          <p:nvPr/>
        </p:nvSpPr>
        <p:spPr>
          <a:xfrm>
            <a:off x="457200" y="3749040"/>
            <a:ext cx="11247120" cy="822960"/>
          </a:xfrm>
          <a:prstGeom prst="roundRect">
            <a:avLst>
              <a:gd name="adj" fmla="val 13333"/>
            </a:avLst>
          </a:prstGeom>
          <a:solidFill>
            <a:srgbClr val="1A1330"/>
          </a:solidFill>
          <a:ln w="9525">
            <a:solidFill>
              <a:srgbClr val="7C3AE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31520" y="3931920"/>
            <a:ext cx="457200" cy="45720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21" name="Text 19"/>
          <p:cNvSpPr/>
          <p:nvPr/>
        </p:nvSpPr>
        <p:spPr>
          <a:xfrm>
            <a:off x="731520" y="39319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📊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371600" y="38404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3F4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years of historical decision data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371600" y="416052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 outcome labels · counterfactual training begins on day one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0058400" y="4023360"/>
            <a:ext cx="640080" cy="256032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/>
        </p:spPr>
      </p:sp>
      <p:sp>
        <p:nvSpPr>
          <p:cNvPr id="25" name="Text 23"/>
          <p:cNvSpPr/>
          <p:nvPr/>
        </p:nvSpPr>
        <p:spPr>
          <a:xfrm>
            <a:off x="10058400" y="4023360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700" dirty="0"/>
          </a:p>
        </p:txBody>
      </p:sp>
      <p:sp>
        <p:nvSpPr>
          <p:cNvPr id="26" name="Shape 24"/>
          <p:cNvSpPr/>
          <p:nvPr/>
        </p:nvSpPr>
        <p:spPr>
          <a:xfrm>
            <a:off x="457200" y="4846320"/>
            <a:ext cx="11247120" cy="822960"/>
          </a:xfrm>
          <a:prstGeom prst="roundRect">
            <a:avLst>
              <a:gd name="adj" fmla="val 13333"/>
            </a:avLst>
          </a:prstGeom>
          <a:solidFill>
            <a:srgbClr val="0F1A0F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31520" y="4937760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300" i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return, we commit to a measurable reduction in combined credit and fraud losses</a:t>
            </a:r>
            <a:endParaRPr lang="en-US" sz="13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300" i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within twelve months — or AURA reverts to GXS Bank at no cost.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5303520" y="5760720"/>
            <a:ext cx="1554480" cy="1554480"/>
          </a:xfrm>
          <a:prstGeom prst="ellipse">
            <a:avLst/>
          </a:prstGeom>
          <a:solidFill>
            <a:srgbClr val="4A0E8F">
              <a:alpha val="15000"/>
            </a:srgbClr>
          </a:solidFill>
          <a:ln/>
        </p:spPr>
      </p:sp>
      <p:sp>
        <p:nvSpPr>
          <p:cNvPr id="29" name="Text 27"/>
          <p:cNvSpPr/>
          <p:nvPr/>
        </p:nvSpPr>
        <p:spPr>
          <a:xfrm>
            <a:off x="4114800" y="585216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AURA</a:t>
            </a:r>
            <a:endParaRPr lang="en-US" sz="3000" dirty="0"/>
          </a:p>
        </p:txBody>
      </p:sp>
      <p:sp>
        <p:nvSpPr>
          <p:cNvPr id="30" name="Text 28"/>
          <p:cNvSpPr/>
          <p:nvPr/>
        </p:nvSpPr>
        <p:spPr>
          <a:xfrm>
            <a:off x="3657600" y="6400800"/>
            <a:ext cx="4846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CONTINUUM RISK LABS  ·  2026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57200" y="644652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AURA  ·  CONTINUUM RISK LABS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10515600" y="644652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/ 14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AURA Pitch Deck — Global Fintech Hackelerator 2026</dc:title>
  <dc:subject>PptxGenJS Presentation</dc:subject>
  <dc:creator>Continuum Risk Labs Pte. Ltd.</dc:creator>
  <cp:lastModifiedBy>Continuum Risk Labs Pte. Ltd.</cp:lastModifiedBy>
  <cp:revision>1</cp:revision>
  <dcterms:created xsi:type="dcterms:W3CDTF">2026-08-21T10:41:33Z</dcterms:created>
  <dcterms:modified xsi:type="dcterms:W3CDTF">2026-08-21T10:41:33Z</dcterms:modified>
</cp:coreProperties>
</file>