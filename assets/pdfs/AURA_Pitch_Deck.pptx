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A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3175">
            <a:solidFill>
              <a:srgbClr val="1A2233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246888"/>
            <a:ext cx="12191695" cy="0"/>
          </a:xfrm>
          <a:prstGeom prst="line">
            <a:avLst/>
          </a:prstGeom>
          <a:noFill/>
          <a:ln w="3175">
            <a:solidFill>
              <a:srgbClr val="1A2233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493776"/>
            <a:ext cx="12191695" cy="0"/>
          </a:xfrm>
          <a:prstGeom prst="line">
            <a:avLst/>
          </a:prstGeom>
          <a:noFill/>
          <a:ln w="3175">
            <a:solidFill>
              <a:srgbClr val="1A2233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0" y="740664"/>
            <a:ext cx="12191695" cy="0"/>
          </a:xfrm>
          <a:prstGeom prst="line">
            <a:avLst/>
          </a:prstGeom>
          <a:noFill/>
          <a:ln w="3175">
            <a:solidFill>
              <a:srgbClr val="1A2233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0" y="987552"/>
            <a:ext cx="12191695" cy="0"/>
          </a:xfrm>
          <a:prstGeom prst="line">
            <a:avLst/>
          </a:prstGeom>
          <a:noFill/>
          <a:ln w="3175">
            <a:solidFill>
              <a:srgbClr val="1A2233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0" y="1234440"/>
            <a:ext cx="12191695" cy="0"/>
          </a:xfrm>
          <a:prstGeom prst="line">
            <a:avLst/>
          </a:prstGeom>
          <a:noFill/>
          <a:ln w="3175">
            <a:solidFill>
              <a:srgbClr val="1A2233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0" y="1481328"/>
            <a:ext cx="12191695" cy="0"/>
          </a:xfrm>
          <a:prstGeom prst="line">
            <a:avLst/>
          </a:prstGeom>
          <a:noFill/>
          <a:ln w="3175">
            <a:solidFill>
              <a:srgbClr val="1A2233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0" y="1728216"/>
            <a:ext cx="12191695" cy="0"/>
          </a:xfrm>
          <a:prstGeom prst="line">
            <a:avLst/>
          </a:prstGeom>
          <a:noFill/>
          <a:ln w="3175">
            <a:solidFill>
              <a:srgbClr val="1A2233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0" y="1975104"/>
            <a:ext cx="12191695" cy="0"/>
          </a:xfrm>
          <a:prstGeom prst="line">
            <a:avLst/>
          </a:prstGeom>
          <a:noFill/>
          <a:ln w="3175">
            <a:solidFill>
              <a:srgbClr val="1A2233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0" y="2221992"/>
            <a:ext cx="12191695" cy="0"/>
          </a:xfrm>
          <a:prstGeom prst="line">
            <a:avLst/>
          </a:prstGeom>
          <a:noFill/>
          <a:ln w="3175">
            <a:solidFill>
              <a:srgbClr val="1A2233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0" y="2468880"/>
            <a:ext cx="12191695" cy="0"/>
          </a:xfrm>
          <a:prstGeom prst="line">
            <a:avLst/>
          </a:prstGeom>
          <a:noFill/>
          <a:ln w="3175">
            <a:solidFill>
              <a:srgbClr val="1A2233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0" y="2715768"/>
            <a:ext cx="12191695" cy="0"/>
          </a:xfrm>
          <a:prstGeom prst="line">
            <a:avLst/>
          </a:prstGeom>
          <a:noFill/>
          <a:ln w="3175">
            <a:solidFill>
              <a:srgbClr val="1A2233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0" y="2962656"/>
            <a:ext cx="12191695" cy="0"/>
          </a:xfrm>
          <a:prstGeom prst="line">
            <a:avLst/>
          </a:prstGeom>
          <a:noFill/>
          <a:ln w="3175">
            <a:solidFill>
              <a:srgbClr val="1A2233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0" y="3209544"/>
            <a:ext cx="12191695" cy="0"/>
          </a:xfrm>
          <a:prstGeom prst="line">
            <a:avLst/>
          </a:prstGeom>
          <a:noFill/>
          <a:ln w="3175">
            <a:solidFill>
              <a:srgbClr val="1A2233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0" y="3456432"/>
            <a:ext cx="12191695" cy="0"/>
          </a:xfrm>
          <a:prstGeom prst="line">
            <a:avLst/>
          </a:prstGeom>
          <a:noFill/>
          <a:ln w="3175">
            <a:solidFill>
              <a:srgbClr val="1A2233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0" y="3703320"/>
            <a:ext cx="12191695" cy="0"/>
          </a:xfrm>
          <a:prstGeom prst="line">
            <a:avLst/>
          </a:prstGeom>
          <a:noFill/>
          <a:ln w="3175">
            <a:solidFill>
              <a:srgbClr val="1A2233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0" y="3950208"/>
            <a:ext cx="12191695" cy="0"/>
          </a:xfrm>
          <a:prstGeom prst="line">
            <a:avLst/>
          </a:prstGeom>
          <a:noFill/>
          <a:ln w="3175">
            <a:solidFill>
              <a:srgbClr val="1A2233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0" y="4197096"/>
            <a:ext cx="12191695" cy="0"/>
          </a:xfrm>
          <a:prstGeom prst="line">
            <a:avLst/>
          </a:prstGeom>
          <a:noFill/>
          <a:ln w="3175">
            <a:solidFill>
              <a:srgbClr val="1A2233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0" y="4443984"/>
            <a:ext cx="12191695" cy="0"/>
          </a:xfrm>
          <a:prstGeom prst="line">
            <a:avLst/>
          </a:prstGeom>
          <a:noFill/>
          <a:ln w="3175">
            <a:solidFill>
              <a:srgbClr val="1A2233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0" y="4690872"/>
            <a:ext cx="12191695" cy="0"/>
          </a:xfrm>
          <a:prstGeom prst="line">
            <a:avLst/>
          </a:prstGeom>
          <a:noFill/>
          <a:ln w="3175">
            <a:solidFill>
              <a:srgbClr val="1A2233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0" y="4937760"/>
            <a:ext cx="12191695" cy="0"/>
          </a:xfrm>
          <a:prstGeom prst="line">
            <a:avLst/>
          </a:prstGeom>
          <a:noFill/>
          <a:ln w="3175">
            <a:solidFill>
              <a:srgbClr val="1A2233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0" y="5184648"/>
            <a:ext cx="12191695" cy="0"/>
          </a:xfrm>
          <a:prstGeom prst="line">
            <a:avLst/>
          </a:prstGeom>
          <a:noFill/>
          <a:ln w="3175">
            <a:solidFill>
              <a:srgbClr val="1A2233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3175">
            <a:solidFill>
              <a:srgbClr val="1A2233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0" y="5678424"/>
            <a:ext cx="12191695" cy="0"/>
          </a:xfrm>
          <a:prstGeom prst="line">
            <a:avLst/>
          </a:prstGeom>
          <a:noFill/>
          <a:ln w="3175">
            <a:solidFill>
              <a:srgbClr val="1A2233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0" y="5925312"/>
            <a:ext cx="12191695" cy="0"/>
          </a:xfrm>
          <a:prstGeom prst="line">
            <a:avLst/>
          </a:prstGeom>
          <a:noFill/>
          <a:ln w="3175">
            <a:solidFill>
              <a:srgbClr val="1A2233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3175">
            <a:solidFill>
              <a:srgbClr val="1A2233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0" y="6419088"/>
            <a:ext cx="12191695" cy="0"/>
          </a:xfrm>
          <a:prstGeom prst="line">
            <a:avLst/>
          </a:prstGeom>
          <a:noFill/>
          <a:ln w="3175">
            <a:solidFill>
              <a:srgbClr val="1A2233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0" y="6665976"/>
            <a:ext cx="12191695" cy="0"/>
          </a:xfrm>
          <a:prstGeom prst="line">
            <a:avLst/>
          </a:prstGeom>
          <a:noFill/>
          <a:ln w="3175">
            <a:solidFill>
              <a:srgbClr val="1A2233"/>
            </a:solidFill>
            <a:prstDash val="dash"/>
          </a:ln>
        </p:spPr>
      </p:sp>
      <p:pic>
        <p:nvPicPr>
          <p:cNvPr id="30" name="Image 0" descr="/home/z/my-project/scripts/aura_ppt/aur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640080" cy="64008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37160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PROPOSAL  ·  SUBMITTED TO GXS BANK  ·  2026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02920" y="173736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spc="-500" kern="0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AURA</a:t>
            </a:r>
            <a:endParaRPr lang="en-US" sz="13000" dirty="0"/>
          </a:p>
        </p:txBody>
      </p:sp>
      <p:sp>
        <p:nvSpPr>
          <p:cNvPr id="33" name="Text 30"/>
          <p:cNvSpPr/>
          <p:nvPr/>
        </p:nvSpPr>
        <p:spPr>
          <a:xfrm>
            <a:off x="502920" y="3246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spc="-30" kern="0" dirty="0">
                <a:solidFill>
                  <a:srgbClr val="0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Adaptive Unified Risk Architecture</a:t>
            </a:r>
            <a:endParaRPr lang="en-US" sz="2800" dirty="0"/>
          </a:p>
        </p:txBody>
      </p:sp>
      <p:sp>
        <p:nvSpPr>
          <p:cNvPr id="34" name="Text 31"/>
          <p:cNvSpPr/>
          <p:nvPr/>
        </p:nvSpPr>
        <p:spPr>
          <a:xfrm>
            <a:off x="502920" y="3703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MODEL OF YOU. EVERY RISK YOU'LL EVER BE.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502920" y="4434840"/>
            <a:ext cx="3606698" cy="1097280"/>
          </a:xfrm>
          <a:prstGeom prst="rect">
            <a:avLst/>
          </a:prstGeom>
          <a:solidFill>
            <a:srgbClr val="1C2230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02920" y="4434840"/>
            <a:ext cx="36576" cy="109728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0080" y="4544568"/>
            <a:ext cx="3378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-1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20–30%</a:t>
            </a:r>
            <a:endParaRPr lang="en-US" sz="2600" dirty="0"/>
          </a:p>
        </p:txBody>
      </p:sp>
      <p:sp>
        <p:nvSpPr>
          <p:cNvPr id="38" name="Text 35"/>
          <p:cNvSpPr/>
          <p:nvPr/>
        </p:nvSpPr>
        <p:spPr>
          <a:xfrm>
            <a:off x="640080" y="5029200"/>
            <a:ext cx="3378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 LOSS REDUCTION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292498" y="4434840"/>
            <a:ext cx="3606698" cy="1097280"/>
          </a:xfrm>
          <a:prstGeom prst="rect">
            <a:avLst/>
          </a:prstGeom>
          <a:solidFill>
            <a:srgbClr val="1C2230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292498" y="4434840"/>
            <a:ext cx="36576" cy="109728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429658" y="4544568"/>
            <a:ext cx="3378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-100" kern="0" dirty="0">
                <a:solidFill>
                  <a:srgbClr val="FFA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40–50%</a:t>
            </a:r>
            <a:endParaRPr lang="en-US" sz="2600" dirty="0"/>
          </a:p>
        </p:txBody>
      </p:sp>
      <p:sp>
        <p:nvSpPr>
          <p:cNvPr id="42" name="Text 39"/>
          <p:cNvSpPr/>
          <p:nvPr/>
        </p:nvSpPr>
        <p:spPr>
          <a:xfrm>
            <a:off x="4429658" y="5029200"/>
            <a:ext cx="3378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FRAUD LOSS REDUCTION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8082077" y="4434840"/>
            <a:ext cx="3606698" cy="1097280"/>
          </a:xfrm>
          <a:prstGeom prst="rect">
            <a:avLst/>
          </a:prstGeom>
          <a:solidFill>
            <a:srgbClr val="1C2230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082077" y="4434840"/>
            <a:ext cx="36576" cy="10972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219237" y="4544568"/>
            <a:ext cx="3378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-1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~$50–80M</a:t>
            </a:r>
            <a:endParaRPr lang="en-US" sz="2600" dirty="0"/>
          </a:p>
        </p:txBody>
      </p:sp>
      <p:sp>
        <p:nvSpPr>
          <p:cNvPr id="46" name="Text 43"/>
          <p:cNvSpPr/>
          <p:nvPr/>
        </p:nvSpPr>
        <p:spPr>
          <a:xfrm>
            <a:off x="8219237" y="5029200"/>
            <a:ext cx="3378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P&amp;L IMPACT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502920" y="5760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PREPARED BY
</a:t>
            </a:r>
            <a:endParaRPr lang="en-US" sz="8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Continuum Risk Labs Pte. Ltd.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4343400" y="5760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SUBMISSION
</a:t>
            </a:r>
            <a:endParaRPr lang="en-US" sz="8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August 2026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11688775" y="292608"/>
            <a:ext cx="164592" cy="1828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11688775" y="292608"/>
            <a:ext cx="18288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02920" y="6537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4434840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9905695" y="65379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A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spc="-50" kern="0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Silos that bleed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8640" cy="365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70 years, banking has treated credit risk and fraud risk as two distinct sciences — different teams, different models, different data. The handoff points between them are precisely where losses compound today.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697480"/>
            <a:ext cx="3840480" cy="2286000"/>
          </a:xfrm>
          <a:prstGeom prst="rect">
            <a:avLst/>
          </a:prstGeom>
          <a:solidFill>
            <a:srgbClr val="1C2230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697480"/>
            <a:ext cx="3840480" cy="54864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862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CREDIT TEAM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"Can they repay?"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800" y="36118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 PD models
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Quarterly refresh
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12-month horizon
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Income / collateral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26280" y="3429000"/>
            <a:ext cx="3139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BLIND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spc="200" kern="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26280" y="4160520"/>
            <a:ext cx="3139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7848295" y="2697480"/>
            <a:ext cx="3840480" cy="2286000"/>
          </a:xfrm>
          <a:prstGeom prst="rect">
            <a:avLst/>
          </a:prstGeom>
          <a:solidFill>
            <a:srgbClr val="1C2230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48295" y="2697480"/>
            <a:ext cx="3840480" cy="54864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31175" y="2862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A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FRAUD TEAM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31175" y="3154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"Will they repay?"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031175" y="36118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A7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ML
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A7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Millisecond refresh
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A7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Next-tx horizon
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A7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Device / network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548640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~$487B  </a:t>
            </a:r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annual fraud + credit losses at the seams — and growing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11688775" y="292608"/>
            <a:ext cx="164592" cy="1828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688775" y="292608"/>
            <a:ext cx="18288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37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434840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PROBLEM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905695" y="65379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A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spc="-50" kern="0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 were never separate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8640" cy="36576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 default and fraud are the same phenomenon — the divergence between the customer you underwrote and the customer revealed by their behaviour — observed at different time horizons through different sensors.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697480"/>
            <a:ext cx="11185855" cy="365760"/>
          </a:xfrm>
          <a:prstGeom prst="rect">
            <a:avLst/>
          </a:prstGeom>
          <a:solidFill>
            <a:srgbClr val="161B22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697480"/>
            <a:ext cx="33051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TODAY'S LABEL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082394" y="2697480"/>
            <a:ext cx="74235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IT ACTUALLY IS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3063240"/>
            <a:ext cx="11185855" cy="457200"/>
          </a:xfrm>
          <a:prstGeom prst="rect">
            <a:avLst/>
          </a:prstGeom>
          <a:solidFill>
            <a:srgbClr val="0D1117"/>
          </a:solidFill>
          <a:ln w="3175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063240"/>
            <a:ext cx="3305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 default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82394" y="3063240"/>
            <a:ext cx="74235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fraud that took 18 months to reveal itself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520440"/>
            <a:ext cx="11185855" cy="457200"/>
          </a:xfrm>
          <a:prstGeom prst="rect">
            <a:avLst/>
          </a:prstGeom>
          <a:solidFill>
            <a:srgbClr val="1C2230"/>
          </a:solidFill>
          <a:ln w="3175">
            <a:solidFill>
              <a:srgbClr val="1F29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520440"/>
            <a:ext cx="3305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Bust-out fraud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82394" y="3520440"/>
            <a:ext cx="74235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credit default compressed into 30 days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977640"/>
            <a:ext cx="11185855" cy="457200"/>
          </a:xfrm>
          <a:prstGeom prst="rect">
            <a:avLst/>
          </a:prstGeom>
          <a:solidFill>
            <a:srgbClr val="0D1117"/>
          </a:solidFill>
          <a:ln w="3175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977640"/>
            <a:ext cx="3305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fraud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82394" y="3977640"/>
            <a:ext cx="74235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credit model that was lied to at t=0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4434840"/>
            <a:ext cx="11185855" cy="457200"/>
          </a:xfrm>
          <a:prstGeom prst="rect">
            <a:avLst/>
          </a:prstGeom>
          <a:solidFill>
            <a:srgbClr val="1C2230"/>
          </a:solidFill>
          <a:ln w="3175">
            <a:solidFill>
              <a:srgbClr val="1F29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434840"/>
            <a:ext cx="3305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 fraud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082394" y="4434840"/>
            <a:ext cx="74235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creditworthiness event in 30 seconds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4892040"/>
            <a:ext cx="11185855" cy="457200"/>
          </a:xfrm>
          <a:prstGeom prst="rect">
            <a:avLst/>
          </a:prstGeom>
          <a:solidFill>
            <a:srgbClr val="0D1117"/>
          </a:solidFill>
          <a:ln w="3175">
            <a:solidFill>
              <a:srgbClr val="1F29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892040"/>
            <a:ext cx="3305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default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082394" y="4892040"/>
            <a:ext cx="74235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credit customer who became first-party fraud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1688775" y="292608"/>
            <a:ext cx="164592" cy="1828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688775" y="292608"/>
            <a:ext cx="18288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537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434840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INSIGHT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905695" y="65379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A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spc="-200" kern="0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model.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02920" y="2103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spc="-200" kern="0" dirty="0">
                <a:solidFill>
                  <a:srgbClr val="0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time telescopes.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292608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spc="-200" kern="0" dirty="0">
                <a:solidFill>
                  <a:srgbClr val="FFA7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living immune system.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4069080"/>
            <a:ext cx="11185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AURA is the first risk system where the fraud model and the credit model are the same model — observed through different time telescopes — with an adversarial Arena that attacks itself 24/7 so real fraudsters discover the blind spots second.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5212080"/>
            <a:ext cx="1687068" cy="320040"/>
          </a:xfrm>
          <a:prstGeom prst="rect">
            <a:avLst/>
          </a:prstGeom>
          <a:solidFill>
            <a:srgbClr val="1C2230">
              <a:alpha val="50000"/>
            </a:srgbClr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5212080"/>
            <a:ext cx="15956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UNIFIED EMBEDDING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27148" y="5212080"/>
            <a:ext cx="1997964" cy="320040"/>
          </a:xfrm>
          <a:prstGeom prst="rect">
            <a:avLst/>
          </a:prstGeom>
          <a:solidFill>
            <a:srgbClr val="1C2230">
              <a:alpha val="50000"/>
            </a:srgbClr>
          </a:solidFill>
          <a:ln w="9525">
            <a:solidFill>
              <a:srgbClr val="FFA7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2868" y="5212080"/>
            <a:ext cx="19065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A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PERSONAL DOPPELGÄNGER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462272" y="5212080"/>
            <a:ext cx="1687068" cy="320040"/>
          </a:xfrm>
          <a:prstGeom prst="rect">
            <a:avLst/>
          </a:prstGeom>
          <a:solidFill>
            <a:srgbClr val="1C2230">
              <a:alpha val="50000"/>
            </a:srgbClr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7992" y="5212080"/>
            <a:ext cx="15956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COUNTERFACTUAL RL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86500" y="5212080"/>
            <a:ext cx="1687068" cy="320040"/>
          </a:xfrm>
          <a:prstGeom prst="rect">
            <a:avLst/>
          </a:prstGeom>
          <a:solidFill>
            <a:srgbClr val="1C2230">
              <a:alpha val="50000"/>
            </a:srgbClr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2220" y="5212080"/>
            <a:ext cx="15956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ADVERSARIAL ARENA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1688775" y="292608"/>
            <a:ext cx="164592" cy="1828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688775" y="292608"/>
            <a:ext cx="18288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537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434840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SOLUTION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905695" y="65379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A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-50" kern="0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Eight tightly-coupled layers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8640" cy="365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828800"/>
            <a:ext cx="11185855" cy="502920"/>
          </a:xfrm>
          <a:prstGeom prst="rect">
            <a:avLst/>
          </a:prstGeom>
          <a:solidFill>
            <a:srgbClr val="1C2230"/>
          </a:solidFill>
          <a:ln w="508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28800"/>
            <a:ext cx="45720" cy="50292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2880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828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Unified Risk Embedding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18288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256-dim global latent space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408615" y="18288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SPINE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377440"/>
            <a:ext cx="11185855" cy="502920"/>
          </a:xfrm>
          <a:prstGeom prst="rect">
            <a:avLst/>
          </a:prstGeom>
          <a:solidFill>
            <a:srgbClr val="1C2230"/>
          </a:solidFill>
          <a:ln w="5080">
            <a:solidFill>
              <a:srgbClr val="1F29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377440"/>
            <a:ext cx="45720" cy="50292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37744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A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2377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 Doppelgänger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3774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Per-customer generative twin · residual streamer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408615" y="23774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SPINE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2926080"/>
            <a:ext cx="11185855" cy="502920"/>
          </a:xfrm>
          <a:prstGeom prst="rect">
            <a:avLst/>
          </a:prstGeom>
          <a:solidFill>
            <a:srgbClr val="1C2230"/>
          </a:solidFill>
          <a:ln w="5080">
            <a:solidFill>
              <a:srgbClr val="1F293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926080"/>
            <a:ext cx="45720" cy="5029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92608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97280" y="2926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Twin Strands (Capacity × Intent)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29260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decoupled readouts of the same embedding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408615" y="29260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SPINE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3474720"/>
            <a:ext cx="11185855" cy="502920"/>
          </a:xfrm>
          <a:prstGeom prst="rect">
            <a:avLst/>
          </a:prstGeom>
          <a:solidFill>
            <a:srgbClr val="1C2230"/>
          </a:solidFill>
          <a:ln w="5080">
            <a:solidFill>
              <a:srgbClr val="1F293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474720"/>
            <a:ext cx="45720" cy="5029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4747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97280" y="3474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Time-Telescope Heads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3474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spike (sec) / shift (days) / drift (months)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408615" y="34747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SPINE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2920" y="4023360"/>
            <a:ext cx="11185855" cy="502920"/>
          </a:xfrm>
          <a:prstGeom prst="rect">
            <a:avLst/>
          </a:prstGeom>
          <a:solidFill>
            <a:srgbClr val="1C2230"/>
          </a:solidFill>
          <a:ln w="5080">
            <a:solidFill>
              <a:srgbClr val="1F29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4023360"/>
            <a:ext cx="45720" cy="50292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02336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97280" y="40233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Counterfactual Replay Loop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92040" y="40233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Doubly-robust causal estimation on decisions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408615" y="40233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SPINE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2920" y="4572000"/>
            <a:ext cx="11185855" cy="502920"/>
          </a:xfrm>
          <a:prstGeom prst="rect">
            <a:avLst/>
          </a:prstGeom>
          <a:solidFill>
            <a:srgbClr val="1C2230"/>
          </a:solidFill>
          <a:ln w="5080">
            <a:solidFill>
              <a:srgbClr val="1F293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4572000"/>
            <a:ext cx="45720" cy="50292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457200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A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97280" y="4572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Arena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892040" y="45720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Adversarial agents attack live system in shadow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408615" y="45720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FFA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IMMUNE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02920" y="5120640"/>
            <a:ext cx="11185855" cy="502920"/>
          </a:xfrm>
          <a:prstGeom prst="rect">
            <a:avLst/>
          </a:prstGeom>
          <a:solidFill>
            <a:srgbClr val="1C2230"/>
          </a:solidFill>
          <a:ln w="5080">
            <a:solidFill>
              <a:srgbClr val="1F293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5120640"/>
            <a:ext cx="45720" cy="5029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512064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097280" y="5120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Field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892040" y="5120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 contagion across devices, merchants, geographies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408615" y="51206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FFA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IMMUNE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2920" y="5669280"/>
            <a:ext cx="11185855" cy="502920"/>
          </a:xfrm>
          <a:prstGeom prst="rect">
            <a:avLst/>
          </a:prstGeom>
          <a:solidFill>
            <a:srgbClr val="1C2230"/>
          </a:solidFill>
          <a:ln w="5080">
            <a:solidFill>
              <a:srgbClr val="1F293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02920" y="5669280"/>
            <a:ext cx="45720" cy="5029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566928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097280" y="5669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 Layer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892040" y="56692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nudge → friction → reprice → interdict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408615" y="56692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FFA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IMMUNE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02920" y="6172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Layers 1–5 = </a:t>
            </a:r>
            <a:pPr algn="l"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Continuum Spine</a:t>
            </a:r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Layers 6–8 = </a:t>
            </a:r>
            <a:pPr algn="l" indent="0" marL="0">
              <a:buNone/>
            </a:pPr>
            <a:r>
              <a:rPr lang="en-US" sz="1100" b="1" dirty="0">
                <a:solidFill>
                  <a:srgbClr val="FFA7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Adaptive Immune System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11688775" y="292608"/>
            <a:ext cx="164592" cy="1828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688775" y="292608"/>
            <a:ext cx="18288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920" y="6537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434840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ARCHITECTURE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9905695" y="65379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A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BREAKTHROUGH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-50" kern="0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Doppelgänger + Arena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864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828800"/>
            <a:ext cx="5410048" cy="3657600"/>
          </a:xfrm>
          <a:prstGeom prst="rect">
            <a:avLst/>
          </a:prstGeom>
          <a:solidFill>
            <a:srgbClr val="1C2230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28800"/>
            <a:ext cx="5410048" cy="73152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57400"/>
            <a:ext cx="495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A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 Doppelgänger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2880360"/>
            <a:ext cx="495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self-supervised generative twin per customer. Continuously predicts their next state and streams the residuals — where reality diverges from expectation.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74904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A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 DATA: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99% of behavioural signal both silos throw away.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206240"/>
            <a:ext cx="495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A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IT WINS: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Detects change vs the customer's own past, not the population. Strictly more sensitive for bust-out, where the identity is real but the behaviour has shifted.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78728" y="1828800"/>
            <a:ext cx="5410048" cy="3657600"/>
          </a:xfrm>
          <a:prstGeom prst="rect">
            <a:avLst/>
          </a:prstGeom>
          <a:solidFill>
            <a:srgbClr val="1C2230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8728" y="1828800"/>
            <a:ext cx="5410048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07328" y="2057400"/>
            <a:ext cx="495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06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07328" y="237744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Arena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507328" y="2880360"/>
            <a:ext cx="495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Continuously running adversarial agents — synthetic fraud rings, deepfake applicants, AI-built bust-out personas — attack the live system in a shadow environment. Every exploit becomes instant training signal.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07328" y="393192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"ADAPTIVE" MEANS: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quarterly retraining — a live immune response.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07328" y="4434840"/>
            <a:ext cx="495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NOW: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Fraudsters now use generative AI. You cannot fight generative with static — only generative with generative.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1688775" y="292608"/>
            <a:ext cx="164592" cy="1828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688775" y="292608"/>
            <a:ext cx="18288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37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434840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BREAKTHROUGH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905695" y="65379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A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NOW · 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-50" kern="0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forces converge in 2026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8640" cy="365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828800"/>
            <a:ext cx="3606698" cy="1371600"/>
          </a:xfrm>
          <a:prstGeom prst="rect">
            <a:avLst/>
          </a:prstGeom>
          <a:solidFill>
            <a:srgbClr val="1C2230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965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2377440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Causal ML tooling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697480"/>
            <a:ext cx="3240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EconML, DoWhy, doubly-robust estimators make counterfactual training operationalisable at production scale.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2498" y="1828800"/>
            <a:ext cx="3606698" cy="1371600"/>
          </a:xfrm>
          <a:prstGeom prst="rect">
            <a:avLst/>
          </a:prstGeom>
          <a:solidFill>
            <a:srgbClr val="1C2230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75378" y="1965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475378" y="2377440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Vector DBs + sequence models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75378" y="2697480"/>
            <a:ext cx="3240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256-dim real-time updates and millions of live generative twins are now computationally feasible.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82077" y="1828800"/>
            <a:ext cx="3606698" cy="1371600"/>
          </a:xfrm>
          <a:prstGeom prst="rect">
            <a:avLst/>
          </a:prstGeom>
          <a:solidFill>
            <a:srgbClr val="1C2230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64957" y="1965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264957" y="2377440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 openness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64957" y="2697480"/>
            <a:ext cx="3240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MAS, EBA, OCC signal acceptance of continuously-learning models, provided a frozen shadow is maintained for audit.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657600"/>
            <a:ext cx="2659304" cy="1280160"/>
          </a:xfrm>
          <a:prstGeom prst="rect">
            <a:avLst/>
          </a:prstGeom>
          <a:solidFill>
            <a:srgbClr val="1C2230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657600"/>
            <a:ext cx="36576" cy="12801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767328"/>
            <a:ext cx="243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-1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US$12B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40080" y="4251960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TAM · ANNUAL SOFTWARE SPEND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4526280"/>
            <a:ext cx="243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Growing 14% YoY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45104" y="3657600"/>
            <a:ext cx="2659304" cy="1280160"/>
          </a:xfrm>
          <a:prstGeom prst="rect">
            <a:avLst/>
          </a:prstGeom>
          <a:solidFill>
            <a:srgbClr val="1C2230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45104" y="3657600"/>
            <a:ext cx="36576" cy="128016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82264" y="3767328"/>
            <a:ext cx="243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-100" kern="0" dirty="0">
                <a:solidFill>
                  <a:srgbClr val="FFA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US$487B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3482264" y="4251960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FRAUD LOSSES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82264" y="4526280"/>
            <a:ext cx="243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FS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87288" y="3657600"/>
            <a:ext cx="2659304" cy="1280160"/>
          </a:xfrm>
          <a:prstGeom prst="rect">
            <a:avLst/>
          </a:prstGeom>
          <a:solidFill>
            <a:srgbClr val="1C2230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87288" y="3657600"/>
            <a:ext cx="36576" cy="12801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24448" y="3767328"/>
            <a:ext cx="243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-1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US$84T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324448" y="4251960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TRANSFER BY 2045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24448" y="4526280"/>
            <a:ext cx="243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Digital-native HNW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029471" y="3657600"/>
            <a:ext cx="2659304" cy="1280160"/>
          </a:xfrm>
          <a:prstGeom prst="rect">
            <a:avLst/>
          </a:prstGeom>
          <a:solidFill>
            <a:srgbClr val="1C2230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29471" y="3657600"/>
            <a:ext cx="36576" cy="12801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66631" y="3767328"/>
            <a:ext cx="243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-1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10×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9166631" y="4251960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MODEL DEPLOYMENT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166631" y="4526280"/>
            <a:ext cx="243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siloed MRM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1688775" y="292608"/>
            <a:ext cx="164592" cy="1828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688775" y="292608"/>
            <a:ext cx="18288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6537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434840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WHY NOW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9905695" y="65379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A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 IT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-50" kern="0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scenarios, one engine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8640" cy="365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828800"/>
            <a:ext cx="5410048" cy="2103120"/>
          </a:xfrm>
          <a:prstGeom prst="rect">
            <a:avLst/>
          </a:prstGeom>
          <a:solidFill>
            <a:srgbClr val="1C2230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28800"/>
            <a:ext cx="45720" cy="21031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 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2194560"/>
            <a:ext cx="504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Mei, 34 — real person, real documents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2606040"/>
            <a:ext cx="504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doppelgänger detects: </a:t>
            </a:r>
            <a:pPr indent="0" marL="0">
              <a:buNone/>
            </a:pPr>
            <a:r>
              <a:rPr lang="en-US" sz="1100" i="1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salary deposits landing later each month, three new digital credit accounts, top-ups to an unfamiliar e-wallet cluster, 2 a.m. sessions from a second device.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3337560"/>
            <a:ext cx="504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OLD WORLD: 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Fraud model says "legitimate". Credit score hasn't caught up.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3611880"/>
            <a:ext cx="504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AURA: 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Medium-scale shift + intent manifold = early bust-out transition. Action: consolidation offer + limit adjustment. </a:t>
            </a:r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Loss prevented, customer saved.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78728" y="1828800"/>
            <a:ext cx="5410048" cy="2103120"/>
          </a:xfrm>
          <a:prstGeom prst="rect">
            <a:avLst/>
          </a:prstGeom>
          <a:solidFill>
            <a:srgbClr val="1C2230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8728" y="1828800"/>
            <a:ext cx="45720" cy="210312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1608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A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 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61608" y="2194560"/>
            <a:ext cx="504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identity ring — 200 flawless deepfakes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61608" y="2606040"/>
            <a:ext cx="504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 applications filed. </a:t>
            </a:r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Individually pristine. </a:t>
            </a:r>
            <a:pPr indent="0" marL="0">
              <a:buNone/>
            </a:pPr>
            <a:r>
              <a:rPr lang="en-US" sz="1100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Collectively: all 200 doppelgängers share one residual signature — identical application micro-cadence, one device cluster, synchronised behaviour templates.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61608" y="3337560"/>
            <a:ext cx="504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A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FIELD: 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Lights up as a cluster diverging from reality at once.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61608" y="3611880"/>
            <a:ext cx="504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A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OUTCOME: 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Ring killed at application — </a:t>
            </a:r>
            <a:pPr indent="0" marL="0">
              <a:buNone/>
            </a:pPr>
            <a:r>
              <a:rPr lang="en-US" sz="1100" b="1" dirty="0">
                <a:solidFill>
                  <a:srgbClr val="FFA7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at first missed payment.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4251960"/>
            <a:ext cx="11185855" cy="1645920"/>
          </a:xfrm>
          <a:prstGeom prst="rect">
            <a:avLst/>
          </a:prstGeom>
          <a:solidFill>
            <a:srgbClr val="161B22">
              <a:alpha val="40000"/>
            </a:srgbClr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GXS SPECIFICALLY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4663440"/>
            <a:ext cx="107286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GXS serves the thin-file customers the bureau can't price — gig workers, young earners, the underbanked. When there's no credit history, behaviour is the only signal, and AURA is a behaviour-first engine. GXS's digital-native data exhaust is exactly the fuel this system needs. This isn't a bolt-on; it's GXS's structural advantage weaponised.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1688775" y="292608"/>
            <a:ext cx="164592" cy="1828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688775" y="292608"/>
            <a:ext cx="18288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537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434840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SEE IT WORK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905695" y="65379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A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-50" kern="0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Aligned economics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8640" cy="365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earn meaningfully only when GXS Bank's losses demonstrably fall. The first 90 days are at zero licence cost.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3606698" cy="2926080"/>
          </a:xfrm>
          <a:prstGeom prst="rect">
            <a:avLst/>
          </a:prstGeom>
          <a:solidFill>
            <a:srgbClr val="1C2230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331720"/>
            <a:ext cx="3606698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514600"/>
            <a:ext cx="3240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SHADOW PILOT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834640"/>
            <a:ext cx="3240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 days · Zero cost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3383280"/>
            <a:ext cx="324093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product line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Divergence baseline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production decisions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 before commitment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2498" y="2331720"/>
            <a:ext cx="3606698" cy="2926080"/>
          </a:xfrm>
          <a:prstGeom prst="rect">
            <a:avLst/>
          </a:prstGeom>
          <a:solidFill>
            <a:srgbClr val="1C2230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2498" y="2331720"/>
            <a:ext cx="3606698" cy="54864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75378" y="2514600"/>
            <a:ext cx="3240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LICENSE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75378" y="2834640"/>
            <a:ext cx="3240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· Tiered by volume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75378" y="3383280"/>
            <a:ext cx="324093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access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Embedding + horizon heads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 shadow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MRM support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82077" y="2331720"/>
            <a:ext cx="3606698" cy="2926080"/>
          </a:xfrm>
          <a:prstGeom prst="rect">
            <a:avLst/>
          </a:prstGeom>
          <a:solidFill>
            <a:srgbClr val="161B22"/>
          </a:solidFill>
          <a:ln w="12700">
            <a:solidFill>
              <a:srgbClr val="FFA72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82077" y="2331720"/>
            <a:ext cx="3606698" cy="54864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17175" y="2194560"/>
            <a:ext cx="1280160" cy="27432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17175" y="2194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70A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RECOMMENDED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264957" y="2514600"/>
            <a:ext cx="3240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A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64957" y="2834640"/>
            <a:ext cx="3240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of verified loss reduction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64957" y="3383280"/>
            <a:ext cx="324093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Indexed to baseline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Audited quarterly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Aligns our P&amp;L with yours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Capped at 3× base fee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1688775" y="292608"/>
            <a:ext cx="164592" cy="1828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688775" y="292608"/>
            <a:ext cx="18288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37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434840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· BUSINESS MODEL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905695" y="65379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A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PROJECTED 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-50" kern="0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Three-year P&amp;L impact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8640" cy="365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Mid-sized bank · US$50B portfolio · Treated segments only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286000"/>
            <a:ext cx="11185855" cy="777240"/>
          </a:xfrm>
          <a:prstGeom prst="rect">
            <a:avLst/>
          </a:prstGeom>
          <a:solidFill>
            <a:srgbClr val="1C2230"/>
          </a:solidFill>
          <a:ln w="5080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286000"/>
            <a:ext cx="45720" cy="77724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2860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 loss reduction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71800" y="23728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2391156"/>
            <a:ext cx="2590696" cy="16459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19696" y="23728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71800" y="257403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83280" y="2592324"/>
            <a:ext cx="4404184" cy="16459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33184" y="25740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71800" y="27752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83280" y="2793492"/>
            <a:ext cx="6476741" cy="16459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05741" y="27752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200400"/>
            <a:ext cx="11185855" cy="777240"/>
          </a:xfrm>
          <a:prstGeom prst="rect">
            <a:avLst/>
          </a:prstGeom>
          <a:solidFill>
            <a:srgbClr val="1C2230"/>
          </a:solidFill>
          <a:ln w="5080">
            <a:solidFill>
              <a:srgbClr val="1F293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200400"/>
            <a:ext cx="45720" cy="77724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2004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Fraud loss reduction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71800" y="32872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83280" y="3305556"/>
            <a:ext cx="3166407" cy="164592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95407" y="32872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A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71800" y="348843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83280" y="3506724"/>
            <a:ext cx="5037465" cy="164592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66465" y="34884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A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71800" y="36896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383280" y="3707892"/>
            <a:ext cx="6476741" cy="164592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05741" y="36896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A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4114800"/>
            <a:ext cx="11185855" cy="777240"/>
          </a:xfrm>
          <a:prstGeom prst="rect">
            <a:avLst/>
          </a:prstGeom>
          <a:solidFill>
            <a:srgbClr val="1C2230"/>
          </a:solidFill>
          <a:ln w="5080">
            <a:solidFill>
              <a:srgbClr val="1F293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4114800"/>
            <a:ext cx="45720" cy="7772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41148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False-positive reduction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971800" y="42016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383280" y="4219956"/>
            <a:ext cx="1943022" cy="16459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72022" y="42016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971800" y="440283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383280" y="4421124"/>
            <a:ext cx="3886045" cy="16459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045" y="44028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12%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971800" y="46040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Y3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383280" y="4622292"/>
            <a:ext cx="6476741" cy="16459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905741" y="46040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20%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02920" y="5029200"/>
            <a:ext cx="11185855" cy="777240"/>
          </a:xfrm>
          <a:prstGeom prst="rect">
            <a:avLst/>
          </a:prstGeom>
          <a:solidFill>
            <a:srgbClr val="1C2230"/>
          </a:solidFill>
          <a:ln w="5080">
            <a:solidFill>
              <a:srgbClr val="1F293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2920" y="5029200"/>
            <a:ext cx="45720" cy="7772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" y="50292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P&amp;L impact (US$M)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2971800" y="51160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383280" y="5134356"/>
            <a:ext cx="1992843" cy="1645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21843" y="51160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971800" y="531723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Y2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383280" y="5335524"/>
            <a:ext cx="4483898" cy="1645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12898" y="53172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971800" y="55184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Y3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383280" y="5536692"/>
            <a:ext cx="6476741" cy="1645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905741" y="55184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02920" y="6035040"/>
            <a:ext cx="11185855" cy="502920"/>
          </a:xfrm>
          <a:prstGeom prst="rect">
            <a:avLst/>
          </a:prstGeom>
          <a:solidFill>
            <a:srgbClr val="FFA726">
              <a:alpha val="12000"/>
            </a:srgbClr>
          </a:solidFill>
          <a:ln w="6350">
            <a:solidFill>
              <a:srgbClr val="FFA726">
                <a:alpha val="4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A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 3 OUTCOME   </a:t>
            </a:r>
            <a:pPr indent="0" marL="0">
              <a:buNone/>
            </a:pPr>
            <a:r>
              <a:rPr lang="en-US" sz="1600" b="1" dirty="0">
                <a:solidFill>
                  <a:srgbClr val="E4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~US$50–80M annual P&amp;L impact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11688775" y="292608"/>
            <a:ext cx="164592" cy="1828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688775" y="292608"/>
            <a:ext cx="18288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920" y="6537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434840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· IMPACT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9905695" y="65379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13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A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IMPLEMENTATION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-50" kern="0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 months · 4 phases · 1 gate per phase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8640" cy="365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94560"/>
            <a:ext cx="10271455" cy="36576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189988"/>
            <a:ext cx="2567864" cy="4572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34324" y="2103120"/>
            <a:ext cx="219456" cy="219456"/>
          </a:xfrm>
          <a:prstGeom prst="ellipse">
            <a:avLst/>
          </a:prstGeom>
          <a:solidFill>
            <a:srgbClr val="070A13"/>
          </a:solidFill>
          <a:ln w="25400">
            <a:solidFill>
              <a:srgbClr val="00D9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27984" y="2189988"/>
            <a:ext cx="2567864" cy="4572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2188" y="2103120"/>
            <a:ext cx="219456" cy="219456"/>
          </a:xfrm>
          <a:prstGeom prst="ellipse">
            <a:avLst/>
          </a:prstGeom>
          <a:solidFill>
            <a:srgbClr val="070A13"/>
          </a:solidFill>
          <a:ln w="25400">
            <a:solidFill>
              <a:srgbClr val="FFA7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95848" y="2189988"/>
            <a:ext cx="2567864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70052" y="2103120"/>
            <a:ext cx="219456" cy="219456"/>
          </a:xfrm>
          <a:prstGeom prst="ellipse">
            <a:avLst/>
          </a:prstGeom>
          <a:solidFill>
            <a:srgbClr val="070A13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63711" y="2189988"/>
            <a:ext cx="2567864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837915" y="2103120"/>
            <a:ext cx="219456" cy="219456"/>
          </a:xfrm>
          <a:prstGeom prst="ellipse">
            <a:avLst/>
          </a:prstGeom>
          <a:solidFill>
            <a:srgbClr val="070A13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697480"/>
            <a:ext cx="2659304" cy="3017520"/>
          </a:xfrm>
          <a:prstGeom prst="rect">
            <a:avLst/>
          </a:prstGeom>
          <a:solidFill>
            <a:srgbClr val="1C2230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697480"/>
            <a:ext cx="2659304" cy="4572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019224" y="28803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0–6 mo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" y="3291840"/>
            <a:ext cx="2384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Shadow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3657600"/>
            <a:ext cx="23849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embedding + doppelgängers on existing features. Run as shadow. Measure divergence.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7240" y="4937760"/>
            <a:ext cx="2384984" cy="4572"/>
          </a:xfrm>
          <a:prstGeom prst="rect">
            <a:avLst/>
          </a:prstGeom>
          <a:noFill/>
          <a:ln w="6350">
            <a:solidFill>
              <a:srgbClr val="1F2937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777240" y="5029200"/>
            <a:ext cx="238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 CRITERION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7240" y="5212080"/>
            <a:ext cx="2384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Divergence baseline established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36544" y="2697480"/>
            <a:ext cx="2659304" cy="3017520"/>
          </a:xfrm>
          <a:prstGeom prst="rect">
            <a:avLst/>
          </a:prstGeom>
          <a:solidFill>
            <a:srgbClr val="1C2230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36544" y="2697480"/>
            <a:ext cx="2659304" cy="4572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73704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A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815688" y="28803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6–12 mo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573704" y="3291840"/>
            <a:ext cx="2384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Telescopes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573704" y="3657600"/>
            <a:ext cx="23849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horizon heads. Live decisions on next-tx + 30-day heads in low-risk segments.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573704" y="4937760"/>
            <a:ext cx="2384984" cy="4572"/>
          </a:xfrm>
          <a:prstGeom prst="rect">
            <a:avLst/>
          </a:prstGeom>
          <a:noFill/>
          <a:ln w="6350">
            <a:solidFill>
              <a:srgbClr val="1F2937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3573704" y="5029200"/>
            <a:ext cx="238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 CRITERION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573704" y="5212080"/>
            <a:ext cx="2384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A7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FP reduction ≥ 5%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33008" y="2697480"/>
            <a:ext cx="2659304" cy="3017520"/>
          </a:xfrm>
          <a:prstGeom prst="rect">
            <a:avLst/>
          </a:prstGeom>
          <a:solidFill>
            <a:srgbClr val="1C2230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33008" y="2697480"/>
            <a:ext cx="2659304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70168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612151" y="28803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12–24 mo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370168" y="3291840"/>
            <a:ext cx="2384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Loop + Arena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70168" y="3657600"/>
            <a:ext cx="23849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Counterfactual replay loop + Arena live. Train on interventions and adversarial exploits.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70168" y="4937760"/>
            <a:ext cx="2384984" cy="4572"/>
          </a:xfrm>
          <a:prstGeom prst="rect">
            <a:avLst/>
          </a:prstGeom>
          <a:noFill/>
          <a:ln w="6350">
            <a:solidFill>
              <a:srgbClr val="1F2937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6370168" y="5029200"/>
            <a:ext cx="238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 CRITERION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370168" y="5212080"/>
            <a:ext cx="2384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 loss ↓ ≥ 10%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029471" y="2697480"/>
            <a:ext cx="2659304" cy="3017520"/>
          </a:xfrm>
          <a:prstGeom prst="rect">
            <a:avLst/>
          </a:prstGeom>
          <a:solidFill>
            <a:srgbClr val="1C2230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029471" y="2697480"/>
            <a:ext cx="2659304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66631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10408615" y="28803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24–36 mo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166631" y="3291840"/>
            <a:ext cx="2384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Genome + Action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9166631" y="3657600"/>
            <a:ext cx="23849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Field primary substrate. Action Layer live. Migrate shadow to graph-explainable.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9166631" y="4937760"/>
            <a:ext cx="2384984" cy="4572"/>
          </a:xfrm>
          <a:prstGeom prst="rect">
            <a:avLst/>
          </a:prstGeom>
          <a:noFill/>
          <a:ln w="6350">
            <a:solidFill>
              <a:srgbClr val="1F2937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9166631" y="5029200"/>
            <a:ext cx="238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 CRITERION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9166631" y="5212080"/>
            <a:ext cx="2384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deployment · MRM sign-off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1688775" y="292608"/>
            <a:ext cx="164592" cy="1828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688775" y="292608"/>
            <a:ext cx="18288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2920" y="6537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434840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· ROADMAP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9905695" y="65379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A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-50" kern="0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intersection that makes AURA possible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8640" cy="365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828800"/>
            <a:ext cx="5410048" cy="1783080"/>
          </a:xfrm>
          <a:prstGeom prst="rect">
            <a:avLst/>
          </a:prstGeom>
          <a:solidFill>
            <a:srgbClr val="1C2230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28800"/>
            <a:ext cx="45720" cy="178308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011680"/>
            <a:ext cx="777240" cy="777240"/>
          </a:xfrm>
          <a:prstGeom prst="ellipse">
            <a:avLst/>
          </a:prstGeom>
          <a:solidFill>
            <a:srgbClr val="00D9FF">
              <a:alpha val="20000"/>
            </a:srgbClr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0" y="2011680"/>
            <a:ext cx="412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Dr. Maya Chen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45920" y="2286000"/>
            <a:ext cx="412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45920" y="2606040"/>
            <a:ext cx="412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Ex-CRO, DBS Consumer Bank. 18 yrs APAC retail credit. Led DBS model-risk transformation (2019–23).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78728" y="1828800"/>
            <a:ext cx="5410048" cy="1783080"/>
          </a:xfrm>
          <a:prstGeom prst="rect">
            <a:avLst/>
          </a:prstGeom>
          <a:solidFill>
            <a:srgbClr val="1C2230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8728" y="1828800"/>
            <a:ext cx="45720" cy="178308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61608" y="2011680"/>
            <a:ext cx="777240" cy="777240"/>
          </a:xfrm>
          <a:prstGeom prst="ellipse">
            <a:avLst/>
          </a:prstGeom>
          <a:solidFill>
            <a:srgbClr val="FFA726">
              <a:alpha val="20000"/>
            </a:srgbClr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1608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A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421728" y="2011680"/>
            <a:ext cx="412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Arjun Patel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21728" y="2286000"/>
            <a:ext cx="412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A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21728" y="2606040"/>
            <a:ext cx="412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fraud ML at Stripe &amp; Paytm. Architected feature stores at 12M QPS. Stanford CS PhD candidate.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840480"/>
            <a:ext cx="5410048" cy="1783080"/>
          </a:xfrm>
          <a:prstGeom prst="rect">
            <a:avLst/>
          </a:prstGeom>
          <a:solidFill>
            <a:srgbClr val="1C2230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840480"/>
            <a:ext cx="45720" cy="17830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023360"/>
            <a:ext cx="777240" cy="777240"/>
          </a:xfrm>
          <a:prstGeom prst="ellipse">
            <a:avLst/>
          </a:prstGeom>
          <a:solidFill>
            <a:srgbClr val="34D399">
              <a:alpha val="2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023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LP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45920" y="4023360"/>
            <a:ext cx="412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Dr. Lena Petrova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45920" y="4297680"/>
            <a:ext cx="412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CHIEF SCIENTIST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645920" y="4617720"/>
            <a:ext cx="412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Co-author, foundational doubly-robust counterfactual estimation paper (JMLR 2021). Ex-Microsoft Research NYC.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78728" y="3840480"/>
            <a:ext cx="5410048" cy="1783080"/>
          </a:xfrm>
          <a:prstGeom prst="rect">
            <a:avLst/>
          </a:prstGeom>
          <a:solidFill>
            <a:srgbClr val="1C2230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78728" y="3840480"/>
            <a:ext cx="45720" cy="17830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61608" y="4023360"/>
            <a:ext cx="777240" cy="777240"/>
          </a:xfrm>
          <a:prstGeom prst="ellipse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61608" y="4023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421728" y="4023360"/>
            <a:ext cx="412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Marcus Tan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421728" y="4297680"/>
            <a:ext cx="412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 OF REG ENGINEERING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21728" y="4617720"/>
            <a:ext cx="412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Ex-MAS regulator (TRM). Authored portions of the MAS model-risk notice. Ensures AURA ships audit-ready.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598932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  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Names shown are placeholders — replace with actual founders prior to submission.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1688775" y="292608"/>
            <a:ext cx="164592" cy="1828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688775" y="292608"/>
            <a:ext cx="18288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6537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434840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· TEAM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905695" y="65379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A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spc="-50" kern="0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Ninety days. Zero risk.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8640" cy="365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828800"/>
            <a:ext cx="11185855" cy="868680"/>
          </a:xfrm>
          <a:prstGeom prst="rect">
            <a:avLst/>
          </a:prstGeom>
          <a:solidFill>
            <a:srgbClr val="1C2230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28800"/>
            <a:ext cx="54864" cy="86868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2880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00200" y="1965960"/>
            <a:ext cx="9905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90-day shadow deployment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00200" y="2286000"/>
            <a:ext cx="9905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licence · single product line · establish divergence baseline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834640"/>
            <a:ext cx="11185855" cy="868680"/>
          </a:xfrm>
          <a:prstGeom prst="rect">
            <a:avLst/>
          </a:prstGeom>
          <a:solidFill>
            <a:srgbClr val="1C2230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834640"/>
            <a:ext cx="54864" cy="86868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83464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A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600200" y="2971800"/>
            <a:ext cx="9905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sponsor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600200" y="3291840"/>
            <a:ext cx="9905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 or CDO level · convene credit, fraud, model-risk functions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840480"/>
            <a:ext cx="11185855" cy="868680"/>
          </a:xfrm>
          <a:prstGeom prst="rect">
            <a:avLst/>
          </a:prstGeom>
          <a:solidFill>
            <a:srgbClr val="1C2230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840480"/>
            <a:ext cx="54864" cy="8686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84048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600200" y="3977640"/>
            <a:ext cx="9905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years of historical decision data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00200" y="4297680"/>
            <a:ext cx="9905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outcome labels · counterfactual training begins on day one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937760"/>
            <a:ext cx="11185855" cy="914400"/>
          </a:xfrm>
          <a:prstGeom prst="rect">
            <a:avLst/>
          </a:prstGeom>
          <a:solidFill>
            <a:srgbClr val="00D9FF">
              <a:alpha val="10000"/>
            </a:srgbClr>
          </a:solidFill>
          <a:ln w="6350">
            <a:solidFill>
              <a:srgbClr val="00D9FF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4937760"/>
            <a:ext cx="54864" cy="91440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937760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return, we commit to a measurable reduction in combined credit and fraud losses within twelve months — </a:t>
            </a:r>
            <a:pPr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 AURA reverts to GXS Bank at no cost.</a:t>
            </a:r>
            <a:endParaRPr lang="en-US" sz="1400" dirty="0"/>
          </a:p>
        </p:txBody>
      </p:sp>
      <p:pic>
        <p:nvPicPr>
          <p:cNvPr id="23" name="Image 0" descr="/home/z/my-project/scripts/aura_ppt/aur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989320"/>
            <a:ext cx="411480" cy="41148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005840" y="5989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100" kern="0" dirty="0">
                <a:solidFill>
                  <a:srgbClr val="E4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AURA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3246120" y="5989320"/>
            <a:ext cx="8442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CONTINUUM RISK LABS  ·  2026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11688775" y="292608"/>
            <a:ext cx="164592" cy="1828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1688775" y="292608"/>
            <a:ext cx="18288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2920" y="6537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434840" y="6537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· THE ASK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9905695" y="65379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Continuum Risk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AURA — Adaptive Unified Risk Architecture</dc:title>
  <dc:subject>Proposal for GXS Bank Adaptive Risk Modelling Challenge</dc:subject>
  <dc:creator>Continuum Risk Labs Pte. Ltd.</dc:creator>
  <cp:lastModifiedBy>Continuum Risk Labs Pte. Ltd.</cp:lastModifiedBy>
  <cp:revision>1</cp:revision>
  <dcterms:created xsi:type="dcterms:W3CDTF">2026-08-21T09:55:23Z</dcterms:created>
  <dcterms:modified xsi:type="dcterms:W3CDTF">2026-08-21T09:55:23Z</dcterms:modified>
</cp:coreProperties>
</file>