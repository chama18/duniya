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Unified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Architecture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of you. Every risk you'll ever be.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LOSS REDUCTION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4572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LOSS REDUCTION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0" y="4572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~$50–80M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4672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P&amp;L IMPACT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0" y="1371600"/>
            <a:ext cx="3200400" cy="3200400"/>
          </a:xfrm>
          <a:prstGeom prst="ellipse">
            <a:avLst/>
          </a:prstGeom>
          <a:solidFill>
            <a:srgbClr val="07A1E7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326880" y="2011680"/>
            <a:ext cx="1920240" cy="1920240"/>
          </a:xfrm>
          <a:prstGeom prst="ellipse">
            <a:avLst/>
          </a:prstGeom>
          <a:solidFill>
            <a:srgbClr val="07A1E7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943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TO GXS BANK  ·  GLOBAL FINTECH HACKELERATOR  ·  SINGAPORE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6217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Continuum Risk Labs Pte. Ltd.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that bleed.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they repay?"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models · Quarterly refresh · 12-month 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they repay?"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ML · Millisecond refresh · Next-tx 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2560320"/>
            <a:ext cx="7315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$487B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fraud + credit losses at the seams — and growing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were never separate.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default and fraud are the same phenomenon —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divergence between the customer you underwrote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customer revealed by their behaviour.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default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Slow-motion fraud (18 months)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914400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Bust-out fraud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credit default (30 days)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914400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fraud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model lied to at t=0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5029200"/>
            <a:ext cx="914400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fraud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Creditworthiness in 30 seconds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model. Two telescopes.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immune system.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F1F35"/>
          </a:solidFill>
          <a:ln w="9525">
            <a:solidFill>
              <a:srgbClr val="07A1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743200"/>
            <a:ext cx="914400" cy="91440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256-dim latent space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25603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F1F35"/>
          </a:solidFill>
          <a:ln w="9525">
            <a:solidFill>
              <a:srgbClr val="07A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743200"/>
            <a:ext cx="914400" cy="91440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4904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Doppelgänger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streams residuals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5603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F1F35"/>
          </a:solidFill>
          <a:ln w="9525">
            <a:solidFill>
              <a:srgbClr val="07A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2743200"/>
            <a:ext cx="914400" cy="91440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8368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Telescopes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 / days / months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35440" y="25603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0F1F35"/>
          </a:solidFill>
          <a:ln w="9525">
            <a:solidFill>
              <a:srgbClr val="07A1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0" y="2743200"/>
            <a:ext cx="914400" cy="91440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418320" y="3749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attacks AI 24/7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BREAKTHROUGH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Doppelgänger + Arena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0F1F35"/>
          </a:solidFill>
          <a:ln w="12700">
            <a:solidFill>
              <a:srgbClr val="07A1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DOPPELGÄNGER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digital twin knows you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than you know yourself.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self-supervised generative twin per customer.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predicts their next state and streams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residuals — where reality diverges from expectation.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data: The 99% of signal both silos throw away.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wins: Detects change vs the customer's own past, not the population.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0F1F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ARENA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attacks AI.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survives.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34747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running adversarial agents — synthetic fraud rings,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 applicants, AI-built bust-out personas — attack the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 in a shadow environment.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572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immune response — not quarterly retraining.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Fight generative fraud with generative defence.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WORK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scenarios. One engine.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0F1F3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Mei, 34 — Real Person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deposits shifting. New credit accounts.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e-wallet activity. Second device.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"Legitimate" — Credit score unchanged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bust-out detected → Saved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0F1F35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2560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Deepfakes — Synthetic 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3108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flawless applications. Collectively: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micro-cadence, one device cluster.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FIELD: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lit up as reality diverged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killed at application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forces. One moment.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ML tooling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counterfactual tools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035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embeddings at scale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9611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openness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MAS, EBA accept continuous learning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83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14% YoY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32004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383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$487B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56616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LOSSES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Financial Services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32004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383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$84T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TRANSFER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2045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235440" y="32004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3383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23544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DEPLOY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3544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siloed MRM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AURA sits.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Featurespace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Feedzai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Zest AI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A1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Credit + Fraud unified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Real-time embeddings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Doppelgänger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Counterfactual RL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Adversarial Arena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Time telescopes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4632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0F1F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937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AURA'S UNIQUE ADVANTAGE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solution unifies credit and fraud into a single model with personal doppelgängers, counterfactual RL, and an adversarial arena.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economics.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earn only when your losses fall.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0A1F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1031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PILOT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301752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Single product 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Divergence baseline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production decisions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0F1F35"/>
          </a:solidFill>
          <a:ln w="9525">
            <a:solidFill>
              <a:srgbClr val="07A1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LICENSE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by volume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520440"/>
            <a:ext cx="301752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Platform access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4023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Embedding + horizon heads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Regulatory shadow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0F1F35"/>
          </a:solidFill>
          <a:ln w="9525">
            <a:solidFill>
              <a:srgbClr val="07A1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verified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12480" y="320040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reduction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12480" y="3520440"/>
            <a:ext cx="301752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3657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Indexed to baseline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4023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Audited quarterly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389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Capped at 3× base fee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P&amp;L impact.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Mid-sized bank · US$50B portfolio · Treated segments only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532888"/>
                <a:gridCol w="2532888"/>
                <a:gridCol w="253288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Credit loss 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</a:rPr>
                        <a:t>10%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B981"/>
                          </a:solidFill>
                        </a:rPr>
                        <a:t>17%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Fraud loss 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A1E7"/>
                          </a:solidFill>
                        </a:rPr>
                        <a:t>22%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7A1E7"/>
                          </a:solidFill>
                        </a:rPr>
                        <a:t>35%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7A1E7"/>
                          </a:solidFill>
                        </a:rPr>
                        <a:t>45%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False-positive reduction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899AA"/>
                          </a:solidFill>
                        </a:rPr>
                        <a:t>6%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899AA"/>
                          </a:solidFill>
                        </a:rPr>
                        <a:t>12%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99AA"/>
                          </a:solidFill>
                        </a:rPr>
                        <a:t>20%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P&amp;L impact (US$M)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</a:rPr>
                        <a:t>$20M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9E0B"/>
                          </a:solidFill>
                        </a:rPr>
                        <a:t>$45M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</a:rPr>
                        <a:t>$65M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1F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0" y="4572000"/>
            <a:ext cx="8503920" cy="1097280"/>
          </a:xfrm>
          <a:prstGeom prst="roundRect">
            <a:avLst>
              <a:gd name="adj" fmla="val 10000"/>
            </a:avLst>
          </a:prstGeom>
          <a:solidFill>
            <a:srgbClr val="0F1F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03120" y="4663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OUTCOME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103120" y="49377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~US$50–80M annual P&amp;L impact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months. 4 phases.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124712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965960"/>
            <a:ext cx="320040" cy="32004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60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291840"/>
            <a:ext cx="242316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429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 baseline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965960"/>
            <a:ext cx="320040" cy="32004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4688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560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Telescopes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4720" y="3291840"/>
            <a:ext cx="242316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429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4720" y="3657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 reduction ≥ 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1965960"/>
            <a:ext cx="320040" cy="32004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4688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560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mo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2834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+ Arena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5080" y="3291840"/>
            <a:ext cx="242316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429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3657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loss ↓ ≥ 10%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195560" y="1965960"/>
            <a:ext cx="320040" cy="32004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31" name="Text 29"/>
          <p:cNvSpPr/>
          <p:nvPr/>
        </p:nvSpPr>
        <p:spPr>
          <a:xfrm>
            <a:off x="1019556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98280" y="24688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2560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24–36 mo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35440" y="2834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Genome + Action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235440" y="3291840"/>
            <a:ext cx="242316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36" name="Text 34"/>
          <p:cNvSpPr/>
          <p:nvPr/>
        </p:nvSpPr>
        <p:spPr>
          <a:xfrm>
            <a:off x="9235440" y="34290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GATE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235440" y="36576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deployment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9144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that makes AURA possible.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0F1F35"/>
          </a:solidFill>
          <a:ln w="9525">
            <a:solidFill>
              <a:srgbClr val="07A1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194560"/>
            <a:ext cx="1097280" cy="109728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Darius Kowalski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703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4023360"/>
            <a:ext cx="178308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1605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Ex-CRO, DBS Consumer Bank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yrs APAC retail credit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01168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0F1F35"/>
          </a:solidFill>
          <a:ln w="9525">
            <a:solidFill>
              <a:srgbClr val="07A1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2194560"/>
            <a:ext cx="1097280" cy="109728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3429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Riya Sharma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703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94760" y="4023360"/>
            <a:ext cx="178308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41605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fraud ML at Stripe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stores at 12M QPS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0F1F35"/>
          </a:solidFill>
          <a:ln w="9525">
            <a:solidFill>
              <a:srgbClr val="07A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2194560"/>
            <a:ext cx="1097280" cy="109728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55080" y="3429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Nikolai Kozlov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3703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SCIENTIST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75120" y="4023360"/>
            <a:ext cx="178308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1605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Doubly-robust paper (JMLR)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Ex-Microsoft Research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98280" y="2011680"/>
            <a:ext cx="2697480" cy="3840480"/>
          </a:xfrm>
          <a:prstGeom prst="roundRect">
            <a:avLst>
              <a:gd name="adj" fmla="val 4068"/>
            </a:avLst>
          </a:prstGeom>
          <a:solidFill>
            <a:srgbClr val="0F1F35"/>
          </a:solidFill>
          <a:ln w="9525">
            <a:solidFill>
              <a:srgbClr val="07A1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2194560"/>
            <a:ext cx="1097280" cy="109728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28" name="Text 26"/>
          <p:cNvSpPr/>
          <p:nvPr/>
        </p:nvSpPr>
        <p:spPr>
          <a:xfrm>
            <a:off x="987552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JL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235440" y="3429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Li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35440" y="37033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REG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55480" y="4023360"/>
            <a:ext cx="1783080" cy="9144"/>
          </a:xfrm>
          <a:prstGeom prst="rect">
            <a:avLst/>
          </a:prstGeom>
          <a:solidFill>
            <a:srgbClr val="0F1F35"/>
          </a:solidFill>
          <a:ln/>
        </p:spPr>
      </p:sp>
      <p:sp>
        <p:nvSpPr>
          <p:cNvPr id="32" name="Text 30"/>
          <p:cNvSpPr/>
          <p:nvPr/>
        </p:nvSpPr>
        <p:spPr>
          <a:xfrm>
            <a:off x="9235440" y="41605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Ex-MAS regulator (TRM)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model-risk notice author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Combined: 50+ years in credit risk, fraud ML, causal inference, and MAS regulation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A1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914400" cy="36576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days. Zero risk.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shadow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licence · Single product 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35808"/>
            <a:ext cx="457200" cy="45720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918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CRO/CDO level · Convene credit + fraud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0F1F35"/>
          </a:solidFill>
          <a:ln w="6350">
            <a:solidFill>
              <a:srgbClr val="07A1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858768"/>
            <a:ext cx="457200" cy="457200"/>
          </a:xfrm>
          <a:prstGeom prst="ellipse">
            <a:avLst/>
          </a:prstGeom>
          <a:solidFill>
            <a:srgbClr val="07A1E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years historical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1148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outcome labels · Counterfactual training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0F1F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SUCCESS CRITERIA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Divergence baseline established on 100% of portfolio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440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False-positive reduction ≥ 5% vs current fraud model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5120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Detection latency &lt; 30 seconds for behavioural shift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5440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AURA catches ≥ 20% more cases than shadow comparison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don't hit these targets, AURA reverts to GXS Bank at no cost.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A1E7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 ·  CONTINUUM RISK LABS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Pitch Deck</dc:title>
  <dc:subject>PptxGenJS Presentation</dc:subject>
  <dc:creator>Continuum Risk Labs Pte. Ltd.</dc:creator>
  <cp:lastModifiedBy>Continuum Risk Labs Pte. Ltd.</cp:lastModifiedBy>
  <cp:revision>1</cp:revision>
  <dcterms:created xsi:type="dcterms:W3CDTF">2026-08-21T11:06:13Z</dcterms:created>
  <dcterms:modified xsi:type="dcterms:W3CDTF">2026-08-21T11:06:13Z</dcterms:modified>
</cp:coreProperties>
</file>