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Unified Risk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 of you.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risk you'll ever be.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256032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LOSS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0" y="3931920"/>
            <a:ext cx="256032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40–50%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4572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LOSS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0" y="3931920"/>
            <a:ext cx="256032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~$50–80M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83680" y="4572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P&amp;L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686800" y="457200"/>
            <a:ext cx="3200400" cy="3200400"/>
          </a:xfrm>
          <a:prstGeom prst="ellipse">
            <a:avLst/>
          </a:prstGeom>
          <a:solidFill>
            <a:srgbClr val="4A0E8F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1097280"/>
            <a:ext cx="1920240" cy="1920240"/>
          </a:xfrm>
          <a:prstGeom prst="ellipse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86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TO GXS BANK  · 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5760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 Risk Labs Pte. Ltd.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6035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Fintech Hackelerator · Singapore · August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Silos that bleed.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70 years, banking has treated credit risk and fraud risk as two distinct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sciences — different teams, different models, different data.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handoff points between them are precisely where losses compound today.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4754880" cy="2560320"/>
          </a:xfrm>
          <a:prstGeom prst="roundRect">
            <a:avLst>
              <a:gd name="adj" fmla="val 5357"/>
            </a:avLst>
          </a:prstGeom>
          <a:solidFill>
            <a:srgbClr val="1A1330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63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TEAM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they repay?"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840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Static PD models  ·  Quarterly refresh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1605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12-month horizon  ·  Income / collateral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4480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Population-level statistics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2926080"/>
            <a:ext cx="4754880" cy="2560320"/>
          </a:xfrm>
          <a:prstGeom prst="roundRect">
            <a:avLst>
              <a:gd name="adj" fmla="val 5357"/>
            </a:avLst>
          </a:prstGeom>
          <a:solidFill>
            <a:srgbClr val="1A1330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063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TEAM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34290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"Will they repay?"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3840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Real-time ML  ·  Millisecond refresh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41605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Next-tx horizon  ·  Device / network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4480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Behavioral anomaly detection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BLINDSPOT 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5760720"/>
            <a:ext cx="8503920" cy="457200"/>
          </a:xfrm>
          <a:prstGeom prst="roundRect">
            <a:avLst>
              <a:gd name="adj" fmla="val 16000"/>
            </a:avLst>
          </a:prstGeom>
          <a:solidFill>
            <a:srgbClr val="1A133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~$487B  global annual fraud + credit losses at the seams — and growing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INSIGHT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were never separate.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default and fraud are the same phenomenon — the divergence between the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you underwrote and the customer revealed by their behaviour 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at different time horizons through different sensors.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01752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TODAY'S LABEL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ACTUALLY 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default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fraud that took 18 months to reveal itself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Bust-out fraud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0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credit default compressed into 30 days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0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0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fraud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credit model that was lied to at t=0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 fraud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0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creditworthiness event in 30 seconds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0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0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default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credit customer who became first-party fraud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371600" y="5669280"/>
            <a:ext cx="9418320" cy="548640"/>
          </a:xfrm>
          <a:prstGeom prst="roundRect">
            <a:avLst>
              <a:gd name="adj" fmla="val 13333"/>
            </a:avLst>
          </a:prstGeom>
          <a:solidFill>
            <a:srgbClr val="4A0E8F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56692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insight: If you observe the SAME person through TWO time telescopes,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catch the divergence before either team sees it alone.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model. Two telescopes.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living immune system.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is the first risk system where the fraud model and the credit model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 same model — observed through different time telescopes — with an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Arena that attacks itself 24/7.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1A1330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3200400"/>
            <a:ext cx="822960" cy="82296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846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256-dim latent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per customer.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signals, one vector.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301752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1A1330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3200400"/>
            <a:ext cx="822960" cy="82296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49040" y="4160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DOPPELGÄNGER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4846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twin that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 residuals —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vs expectation.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301752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1A1330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3200400"/>
            <a:ext cx="822960" cy="82296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583680" y="4160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4846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have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happened? Doubly-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causal replay.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235440" y="301752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1A1330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0" y="3200400"/>
            <a:ext cx="822960" cy="82296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418320" y="4160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18320" y="4846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AI agents attack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24/7.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fights fraud.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tightly-coupled layers.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475488"/>
          </a:xfrm>
          <a:prstGeom prst="roundRect">
            <a:avLst>
              <a:gd name="adj" fmla="val 11538"/>
            </a:avLst>
          </a:prstGeom>
          <a:solidFill>
            <a:srgbClr val="15102A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46504"/>
            <a:ext cx="365760" cy="36576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46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69164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Risk Embedding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256-dim global latent space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241280" y="180136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4A0E8F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0" y="18013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31520" y="2258568"/>
            <a:ext cx="10698480" cy="475488"/>
          </a:xfrm>
          <a:prstGeom prst="roundRect">
            <a:avLst>
              <a:gd name="adj" fmla="val 11538"/>
            </a:avLst>
          </a:prstGeom>
          <a:solidFill>
            <a:srgbClr val="15102A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13432"/>
            <a:ext cx="365760" cy="36576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225856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Doppelgänger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258568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Per-customer generative twin · residual streamer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241280" y="2368296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4A0E8F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41280" y="236829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31520" y="2825496"/>
            <a:ext cx="10698480" cy="475488"/>
          </a:xfrm>
          <a:prstGeom prst="roundRect">
            <a:avLst>
              <a:gd name="adj" fmla="val 11538"/>
            </a:avLst>
          </a:prstGeom>
          <a:solidFill>
            <a:srgbClr val="15102A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2880360"/>
            <a:ext cx="365760" cy="36576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282549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Strands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82549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decoupled readouts: Capacity × Intent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241280" y="293522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4A0E8F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41280" y="29352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31520" y="3392424"/>
            <a:ext cx="10698480" cy="475488"/>
          </a:xfrm>
          <a:prstGeom prst="roundRect">
            <a:avLst>
              <a:gd name="adj" fmla="val 11538"/>
            </a:avLst>
          </a:prstGeom>
          <a:solidFill>
            <a:srgbClr val="15102A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3447288"/>
            <a:ext cx="365760" cy="36576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447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63040" y="339242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Time-Telescope Heads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39242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 (sec) / shift (days) / drift (months)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241280" y="350215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4A0E8F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241280" y="35021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31520" y="3959352"/>
            <a:ext cx="10698480" cy="475488"/>
          </a:xfrm>
          <a:prstGeom prst="roundRect">
            <a:avLst>
              <a:gd name="adj" fmla="val 11538"/>
            </a:avLst>
          </a:prstGeom>
          <a:solidFill>
            <a:srgbClr val="15102A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4014216"/>
            <a:ext cx="365760" cy="36576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014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463040" y="395935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 Replay Loop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0" y="395935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Doubly-robust causal estimation on decisions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241280" y="406908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4A0E8F">
              <a:alpha val="5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0241280" y="4069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31520" y="4526280"/>
            <a:ext cx="10698480" cy="475488"/>
          </a:xfrm>
          <a:prstGeom prst="roundRect">
            <a:avLst>
              <a:gd name="adj" fmla="val 11538"/>
            </a:avLst>
          </a:prstGeom>
          <a:solidFill>
            <a:srgbClr val="1C0F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400" y="4581144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4581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63040" y="452628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Arena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46320" y="452628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agents attack live system in shadow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241280" y="463600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5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0241280" y="46360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31520" y="5093208"/>
            <a:ext cx="10698480" cy="475488"/>
          </a:xfrm>
          <a:prstGeom prst="roundRect">
            <a:avLst>
              <a:gd name="adj" fmla="val 11538"/>
            </a:avLst>
          </a:prstGeom>
          <a:solidFill>
            <a:srgbClr val="1C0F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4400" y="5148072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0" y="5148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463040" y="509320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Field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846320" y="5093208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contagion across devices, merchants, geographies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241280" y="5202936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5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241280" y="52029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731520" y="5660136"/>
            <a:ext cx="10698480" cy="475488"/>
          </a:xfrm>
          <a:prstGeom prst="roundRect">
            <a:avLst>
              <a:gd name="adj" fmla="val 11538"/>
            </a:avLst>
          </a:prstGeom>
          <a:solidFill>
            <a:srgbClr val="1C0F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4400" y="571500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6" name="Text 54"/>
          <p:cNvSpPr/>
          <p:nvPr/>
        </p:nvSpPr>
        <p:spPr>
          <a:xfrm>
            <a:off x="914400" y="5715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463040" y="566013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Layer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846320" y="566013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nudge → friction → reprice → interdict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0241280" y="576986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5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0241280" y="57698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3152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1–5 = Risk Continuum Spine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8640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6–8 = Adaptive Immune System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BREAKTHROUGH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Doppelgänger + Arena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5303520" cy="4389120"/>
          </a:xfrm>
          <a:prstGeom prst="roundRect">
            <a:avLst>
              <a:gd name="adj" fmla="val 3125"/>
            </a:avLst>
          </a:prstGeom>
          <a:solidFill>
            <a:srgbClr val="1A133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Doppelgänger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self-supervised generative twin per customer. Continuously predicts their next state and streams the residuals — where reality diverges from expectation.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3520440"/>
            <a:ext cx="4754880" cy="18288"/>
          </a:xfrm>
          <a:prstGeom prst="rect">
            <a:avLst/>
          </a:prstGeom>
          <a:solidFill>
            <a:srgbClr val="4A0E8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657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931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99% of behavioural signal both silos throw away.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389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WINS: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change vs the customer's own past, not the population. Strictly more sensitive for bust-out, where the identity is real but the behaviour has shifted.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5303520" cy="4389120"/>
          </a:xfrm>
          <a:prstGeom prst="roundRect">
            <a:avLst>
              <a:gd name="adj" fmla="val 3125"/>
            </a:avLst>
          </a:prstGeom>
          <a:solidFill>
            <a:srgbClr val="1A13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194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Arena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26974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running adversarial agents — synthetic fraud rings, deepfake applicants, AI-built bust-out personas — attack the live system in a shadow environment.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3520440"/>
            <a:ext cx="4754880" cy="182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657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'ADAPTIVE' MEANS: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931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quarterly retraining — a live immune response.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4389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4663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Fraudsters now use generative AI. You cannot fight generative with static — only generative with generative.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WHY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forces converge in 2026.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474720" cy="2560320"/>
          </a:xfrm>
          <a:prstGeom prst="roundRect">
            <a:avLst>
              <a:gd name="adj" fmla="val 4286"/>
            </a:avLst>
          </a:prstGeom>
          <a:solidFill>
            <a:srgbClr val="1A1330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ML tooling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EconML, DoWhy, doubly-robust estimators make counterfactual training operationalisable at production scale.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474720" cy="2560320"/>
          </a:xfrm>
          <a:prstGeom prst="roundRect">
            <a:avLst>
              <a:gd name="adj" fmla="val 4286"/>
            </a:avLst>
          </a:prstGeom>
          <a:solidFill>
            <a:srgbClr val="1A1330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965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DBs + sequence models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256-dim real-time updates and millions of live generative twins are now computationally feasible.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3474720" cy="2560320"/>
          </a:xfrm>
          <a:prstGeom prst="roundRect">
            <a:avLst>
              <a:gd name="adj" fmla="val 4286"/>
            </a:avLst>
          </a:prstGeom>
          <a:solidFill>
            <a:srgbClr val="1A1330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965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1248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 openness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28346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MAS, EBA, OCC signal acceptance of continuously-learning models, provided a frozen shadow is maintained for audit.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7548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A1330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846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" y="5349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· ANNUAL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SPEND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" y="5715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14% YoY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566160" y="47548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A1330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4846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$487B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566160" y="5349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LOSSES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66160" y="5715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Financial Services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47548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A1330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846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00800" y="5349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BY 2045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00800" y="5715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Digital-native HNW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235440" y="47548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A1330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0" y="4846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235440" y="5349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MODEL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235440" y="5715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siloed MRM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SEE IT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scenarios, one engine.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303520" cy="2926080"/>
          </a:xfrm>
          <a:prstGeom prst="roundRect">
            <a:avLst>
              <a:gd name="adj" fmla="val 3750"/>
            </a:avLst>
          </a:prstGeom>
          <a:solidFill>
            <a:srgbClr val="1A133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Mei, 34 — real person, real documents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doppelgänger detects: salary deposits landing later each month, three new digital credit accounts, top-ups to an unfamiliar e-wallet cluster, 2 a.m. sessions from a second device.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WORLD: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model says "legitimate". Credit score hasn't caught up.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4069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Medium-scale shift + intent manifold = early bust-out transition. Action: consolidation offer + limit adjustment. Loss prevented, customer saved.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5303520" cy="2926080"/>
          </a:xfrm>
          <a:prstGeom prst="roundRect">
            <a:avLst>
              <a:gd name="adj" fmla="val 3750"/>
            </a:avLst>
          </a:prstGeom>
          <a:solidFill>
            <a:srgbClr val="1A1330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0" y="2103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identity ring — 200 flawless deepfakes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25146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applications filed. Individually pristine. Collectively: all 200 doppelgängers share one residual signature — identical application micro-cadence, one device cluster, synchronised behaviour templates.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32918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FIELD: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0" y="3520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Lights up as a cluster diverging from reality at once.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38404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0" y="4069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 killed at application — not at first missed payment.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846320"/>
            <a:ext cx="10698480" cy="1280160"/>
          </a:xfrm>
          <a:prstGeom prst="roundRect">
            <a:avLst>
              <a:gd name="adj" fmla="val 8571"/>
            </a:avLst>
          </a:prstGeom>
          <a:solidFill>
            <a:srgbClr val="0F1A2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GXS SPECIFICALLY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525780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GXS serves the thin-file customers the bureau can't price — gig workers, young earners, the underbanked. When there's no credit history, behaviour is the only signal, and AURA is a behaviour-first engine. GXS's digital-native data exhaust is exactly the fuel this system needs. This isn't a bolt-on; it's GXS's structural advantage weaponised.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BUSINESS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economics.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earn meaningfully only when GXS Bank's losses demonstrably fall.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90 days are at zero licence cost.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3474720" cy="3474720"/>
          </a:xfrm>
          <a:prstGeom prst="roundRect">
            <a:avLst>
              <a:gd name="adj" fmla="val 3158"/>
            </a:avLst>
          </a:prstGeom>
          <a:solidFill>
            <a:srgbClr val="0A1F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237744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377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PILOT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108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4747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3840480"/>
            <a:ext cx="2926080" cy="9144"/>
          </a:xfrm>
          <a:prstGeom prst="rect">
            <a:avLst/>
          </a:prstGeom>
          <a:solidFill>
            <a:srgbClr val="4A0E8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977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Single product 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Divergence baseline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4709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production decisions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5074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Proof before commitment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2560320"/>
            <a:ext cx="3474720" cy="3474720"/>
          </a:xfrm>
          <a:prstGeom prst="roundRect">
            <a:avLst>
              <a:gd name="adj" fmla="val 3158"/>
            </a:avLst>
          </a:prstGeom>
          <a:solidFill>
            <a:srgbClr val="1A1330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LICENSE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108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· Tiered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volume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840480"/>
            <a:ext cx="2926080" cy="9144"/>
          </a:xfrm>
          <a:prstGeom prst="rect">
            <a:avLst/>
          </a:prstGeom>
          <a:solidFill>
            <a:srgbClr val="4A0E8F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977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Platform access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Embedding + horizon heads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4709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Regulatory shadow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5074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Standard MRM support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2560320"/>
            <a:ext cx="3474720" cy="3474720"/>
          </a:xfrm>
          <a:prstGeom prst="roundRect">
            <a:avLst>
              <a:gd name="adj" fmla="val 3158"/>
            </a:avLst>
          </a:prstGeom>
          <a:solidFill>
            <a:srgbClr val="1A1330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03920" y="3108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verified loss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503920" y="34747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0" y="3840480"/>
            <a:ext cx="2926080" cy="9144"/>
          </a:xfrm>
          <a:prstGeom prst="rect">
            <a:avLst/>
          </a:prstGeom>
          <a:solidFill>
            <a:srgbClr val="4A0E8F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3977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Indexed to baseline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0392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Audited quarterly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0" y="4709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Aligns our P&amp;L with yours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5074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Capped at 3× base fee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impact.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Three-year P&amp;L impact  ·  Mid-sized bank  ·  US$50B portfolio  ·  Treated segments only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350008"/>
                <a:gridCol w="2350008"/>
                <a:gridCol w="23500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</a:rPr>
                        <a:t>Credit loss reduction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10%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17%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25%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</a:rPr>
                        <a:t>Fraud loss reduction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C3AED"/>
                          </a:solidFill>
                        </a:rPr>
                        <a:t>22%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C3AED"/>
                          </a:solidFill>
                        </a:rPr>
                        <a:t>35%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C3AED"/>
                          </a:solidFill>
                        </a:rPr>
                        <a:t>45%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</a:rPr>
                        <a:t>False-positive reduction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78BFA"/>
                          </a:solidFill>
                        </a:rPr>
                        <a:t>6%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78BFA"/>
                          </a:solidFill>
                        </a:rPr>
                        <a:t>12%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78BFA"/>
                          </a:solidFill>
                        </a:rPr>
                        <a:t>20%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</a:rPr>
                        <a:t>P&amp;L impact (US$M)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$20M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$45M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$65M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0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828800" y="4754880"/>
            <a:ext cx="8503920" cy="1097280"/>
          </a:xfrm>
          <a:prstGeom prst="roundRect">
            <a:avLst>
              <a:gd name="adj" fmla="val 12500"/>
            </a:avLst>
          </a:prstGeom>
          <a:solidFill>
            <a:srgbClr val="0F1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03120" y="48463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OUTCOME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103120" y="51663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~US$50–80M annual P&amp;L impact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months. 4 phases. 1 gate per phase.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10698480" cy="36576"/>
          </a:xfrm>
          <a:prstGeom prst="rect">
            <a:avLst/>
          </a:prstGeom>
          <a:solidFill>
            <a:srgbClr val="4A0E8F"/>
          </a:solidFill>
          <a:ln/>
        </p:spPr>
      </p:sp>
      <p:sp>
        <p:nvSpPr>
          <p:cNvPr id="6" name="Shape 4"/>
          <p:cNvSpPr/>
          <p:nvPr/>
        </p:nvSpPr>
        <p:spPr>
          <a:xfrm>
            <a:off x="1783080" y="2331720"/>
            <a:ext cx="320040" cy="3200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178308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A13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718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0–6 mo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6118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embedding + doppelgängers on existing features. Run as shadow. Measure divergence.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" y="5029200"/>
            <a:ext cx="2331720" cy="9144"/>
          </a:xfrm>
          <a:prstGeom prst="rect">
            <a:avLst/>
          </a:prstGeom>
          <a:solidFill>
            <a:srgbClr val="A78BFA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120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Divergence baseline established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17720" y="233172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28803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9718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mo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03320" y="3200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Telescopes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03320" y="36118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horizon heads. Live decisions on next-tx + 30-day heads in low-risk segments.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03320" y="5029200"/>
            <a:ext cx="2331720" cy="9144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703320" y="5120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FP reduction ≥ 5%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452360" y="23317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28803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A133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9718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12–24 mo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37960" y="3200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+ Arena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7960" y="36118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 replay loop + Arena live. Train on interventions and adversarial exploits.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37960" y="5029200"/>
            <a:ext cx="2331720" cy="9144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5120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Credit loss ↓ ≥ 10%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287000" y="233172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1028700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235440" y="28803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A1330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72600" y="29718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24–36 mo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372600" y="3200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Genome + Action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372600" y="36118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Field primary substrate. Action Layer live. Migrate shadow to graph-explainable.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372600" y="5029200"/>
            <a:ext cx="2331720" cy="9144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372600" y="5120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Full deployment · MRM sign-off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intersection that makes AURA possible.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1A1330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011680"/>
            <a:ext cx="1051560" cy="105156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Maya Chen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80160" y="3886200"/>
            <a:ext cx="1508760" cy="9144"/>
          </a:xfrm>
          <a:prstGeom prst="rect">
            <a:avLst/>
          </a:prstGeom>
          <a:solidFill>
            <a:srgbClr val="4A0E8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233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Ex-CRO, DBS Consumer Bank. 18 yrs APAC retail credit. Led DBS model-risk transformation (2019–23).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182880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1A1330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011680"/>
            <a:ext cx="1051560" cy="105156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49040" y="32004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Arjun Patel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35204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0" y="3886200"/>
            <a:ext cx="1508760" cy="9144"/>
          </a:xfrm>
          <a:prstGeom prst="rect">
            <a:avLst/>
          </a:prstGeom>
          <a:solidFill>
            <a:srgbClr val="4A0E8F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40233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fraud ML at Stripe &amp; Paytm. Architected feature stores at 12M QPS. Stanford CS PhD candidate.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182880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1A1330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2011680"/>
            <a:ext cx="1051560" cy="105156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583680" y="32004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Lena Petrova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35204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SCIENTIST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49440" y="3886200"/>
            <a:ext cx="1508760" cy="9144"/>
          </a:xfrm>
          <a:prstGeom prst="rect">
            <a:avLst/>
          </a:prstGeom>
          <a:solidFill>
            <a:srgbClr val="4A0E8F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0233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Co-author, foundational doubly-robust counterfactual estimation paper (JMLR 2021). Ex-Microsoft Research NYC.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35440" y="182880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1A1330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12680" y="2011680"/>
            <a:ext cx="1051560" cy="105156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28" name="Text 26"/>
          <p:cNvSpPr/>
          <p:nvPr/>
        </p:nvSpPr>
        <p:spPr>
          <a:xfrm>
            <a:off x="1001268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418320" y="32004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 Tan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18320" y="35204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REG ENGINEERING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784080" y="3886200"/>
            <a:ext cx="1508760" cy="9144"/>
          </a:xfrm>
          <a:prstGeom prst="rect">
            <a:avLst/>
          </a:prstGeom>
          <a:solidFill>
            <a:srgbClr val="4A0E8F"/>
          </a:solidFill>
          <a:ln/>
        </p:spPr>
      </p:sp>
      <p:sp>
        <p:nvSpPr>
          <p:cNvPr id="32" name="Text 30"/>
          <p:cNvSpPr/>
          <p:nvPr/>
        </p:nvSpPr>
        <p:spPr>
          <a:xfrm>
            <a:off x="9418320" y="40233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Ex-MAS regulator (TRM). Authored portions of the MAS model-risk notice. Ensures AURA ships audit-ready.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59436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Names shown are placeholders — replace with actual founders prior to submission.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THE 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 days. Zero risk.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1A1330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1945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shadow deployment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2423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licence · single product line · establish divergence baseline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1A1330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2004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sponsor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37360" y="34290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 or CDO level · convene credit, fraud, model-risk functions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1A1330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420624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years of historical decision data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37360" y="4434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outcome labels · counterfactual training begins on day one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12064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0F1A0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21208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return, we commit to a measurable reduction in combined credit and fraud losses within twelve months — or AURA reverts to GXS Bank at no cost.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6035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657600" y="6400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 RISK LABS  · 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Continuum Risk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Pitch Deck — Global Fintech Hackelerator 2026</dc:title>
  <dc:subject>AURA — Adaptive Unified Risk Architecture</dc:subject>
  <dc:creator>Continuum Risk Labs Pte. Ltd.</dc:creator>
  <cp:lastModifiedBy>Continuum Risk Labs Pte. Ltd.</cp:lastModifiedBy>
  <cp:revision>1</cp:revision>
  <dcterms:created xsi:type="dcterms:W3CDTF">2026-08-21T10:31:56Z</dcterms:created>
  <dcterms:modified xsi:type="dcterms:W3CDTF">2026-08-21T10:31:56Z</dcterms:modified>
</cp:coreProperties>
</file>