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274320"/>
            <a:ext cx="3657600" cy="3657600"/>
          </a:xfrm>
          <a:prstGeom prst="ellipse">
            <a:avLst/>
          </a:prstGeom>
          <a:solidFill>
            <a:srgbClr val="4A0E8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005840"/>
            <a:ext cx="2194560" cy="21945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554480"/>
            <a:ext cx="1097280" cy="109728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3200400"/>
            <a:ext cx="73152" cy="73152"/>
          </a:xfrm>
          <a:prstGeom prst="ellipse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43800" y="3397185"/>
            <a:ext cx="135109" cy="135109"/>
          </a:xfrm>
          <a:prstGeom prst="ellipse">
            <a:avLst/>
          </a:prstGeom>
          <a:solidFill>
            <a:srgbClr val="A78BFA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3474603"/>
            <a:ext cx="175423" cy="175423"/>
          </a:xfrm>
          <a:prstGeom prst="ellipse">
            <a:avLst/>
          </a:prstGeom>
          <a:solidFill>
            <a:srgbClr val="A78BFA">
              <a:alpha val="4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01000" y="3385693"/>
            <a:ext cx="180010" cy="180010"/>
          </a:xfrm>
          <a:prstGeom prst="ellipse">
            <a:avLst/>
          </a:prstGeom>
          <a:solidFill>
            <a:srgbClr val="A78BFA">
              <a:alpha val="4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3184387"/>
            <a:ext cx="147269" cy="147269"/>
          </a:xfrm>
          <a:prstGeom prst="ellipse">
            <a:avLst/>
          </a:prstGeom>
          <a:solidFill>
            <a:srgbClr val="A78BFA">
              <a:alpha val="4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2992794"/>
            <a:ext cx="88637" cy="88637"/>
          </a:xfrm>
          <a:prstGeom prst="ellipse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2927132"/>
            <a:ext cx="121709" cy="121709"/>
          </a:xfrm>
          <a:prstGeom prst="ellipse">
            <a:avLst/>
          </a:prstGeom>
          <a:solidFill>
            <a:srgbClr val="A78BFA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3027231"/>
            <a:ext cx="168788" cy="168788"/>
          </a:xfrm>
          <a:prstGeom prst="ellipse">
            <a:avLst/>
          </a:prstGeom>
          <a:solidFill>
            <a:srgbClr val="A78BFA">
              <a:alpha val="3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3232372"/>
            <a:ext cx="182459" cy="182459"/>
          </a:xfrm>
          <a:prstGeom prst="ellipse">
            <a:avLst/>
          </a:prstGeom>
          <a:solidFill>
            <a:srgbClr val="A78BFA">
              <a:alpha val="3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3418119"/>
            <a:ext cx="157946" cy="157946"/>
          </a:xfrm>
          <a:prstGeom prst="ellipse">
            <a:avLst/>
          </a:prstGeom>
          <a:solidFill>
            <a:srgbClr val="A78BFA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0" y="3471801"/>
            <a:ext cx="103812" cy="103812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29800" y="3360854"/>
            <a:ext cx="107337" cy="107337"/>
          </a:xfrm>
          <a:prstGeom prst="ellipse">
            <a:avLst/>
          </a:prstGeom>
          <a:solidFill>
            <a:srgbClr val="A78BFA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0" y="3152579"/>
            <a:ext cx="160240" cy="160240"/>
          </a:xfrm>
          <a:prstGeom prst="ellipse">
            <a:avLst/>
          </a:prstGeom>
          <a:solidFill>
            <a:srgbClr val="A78BFA">
              <a:alpha val="2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87000" y="2973311"/>
            <a:ext cx="182720" cy="182720"/>
          </a:xfrm>
          <a:prstGeom prst="ellipse">
            <a:avLst/>
          </a:prstGeom>
          <a:solidFill>
            <a:srgbClr val="A78BFA">
              <a:alpha val="2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0" y="2931792"/>
            <a:ext cx="166925" cy="166925"/>
          </a:xfrm>
          <a:prstGeom prst="ellipse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44200" y="3053207"/>
            <a:ext cx="118373" cy="118373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0" y="3263908"/>
            <a:ext cx="92281" cy="92281"/>
          </a:xfrm>
          <a:prstGeom prst="ellipse">
            <a:avLst/>
          </a:prstGeom>
          <a:solidFill>
            <a:srgbClr val="A78BFA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01400" y="3436085"/>
            <a:ext cx="149948" cy="149948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3465299"/>
            <a:ext cx="180788" cy="180788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658600" y="3333829"/>
            <a:ext cx="174028" cy="174028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8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Unified Risk Architecture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21945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of you.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you'll ever be.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731520" y="3931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2D24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60020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4400" y="507492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50749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3931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2D24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4114800"/>
            <a:ext cx="548640" cy="54864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52628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52628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0" y="507492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2" name="Shape 40"/>
          <p:cNvSpPr/>
          <p:nvPr/>
        </p:nvSpPr>
        <p:spPr>
          <a:xfrm>
            <a:off x="3840480" y="5074920"/>
            <a:ext cx="987552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6583680" y="39319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2D24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4114800"/>
            <a:ext cx="548640" cy="54864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45236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~$50–80M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5236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P&amp;L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66560" y="507492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49" name="Shape 47"/>
          <p:cNvSpPr/>
          <p:nvPr/>
        </p:nvSpPr>
        <p:spPr>
          <a:xfrm>
            <a:off x="6766560" y="5074920"/>
            <a:ext cx="1426464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943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TO GXS BANK  · 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Risk Labs Pte. Ltd.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that bleed.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teams. Two models. One massive blindspot.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A1330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TEAM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they repay?"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models · Quarterly refresh · 12-month 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219456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3317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TEAM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0" y="2651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they repay?"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ML · Millisecond refresh · Next-tx 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2926080"/>
            <a:ext cx="822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GAP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4846320"/>
            <a:ext cx="7589520" cy="548640"/>
          </a:xfrm>
          <a:prstGeom prst="roundRect">
            <a:avLst>
              <a:gd name="adj" fmla="val 20000"/>
            </a:avLst>
          </a:prstGeom>
          <a:solidFill>
            <a:srgbClr val="1A13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8463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~$487B  annual losses at the seams — and growing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were never separate.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1C0F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default and fraud are the same phenomenon — the divergence between the customer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underwrote and the customer revealed by their behaviour.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1005840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8803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0" y="28803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t=30d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28803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t=180d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509760" y="28803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t=365d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0" y="3840480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4A0E8F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105156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51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AURA — BOTH TELESCOPES, ONE MODEL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75488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TODAY'S LABEL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IT ACTUALLY 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Credit default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Slow-motion fraud (18 months)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Bust-out fraud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Fast credit default (30 days)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Application fraud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Credit model lied to at t=0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0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Transaction fraud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4F6"/>
                          </a:solidFill>
                        </a:rPr>
                        <a:t>Creditworthiness in 30 seconds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0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model. Two telescopes.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immune system.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0" y="2103120"/>
            <a:ext cx="2103120" cy="2103120"/>
          </a:xfrm>
          <a:prstGeom prst="ellipse">
            <a:avLst/>
          </a:prstGeom>
          <a:solidFill>
            <a:srgbClr val="4A0E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21031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256-dim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31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streams residuals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21945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2331720"/>
            <a:ext cx="411480" cy="4114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STRANDS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2396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× Intent readouts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42062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3434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🔭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297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TELESCOPES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/ days / months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0" y="42062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43434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⚔️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4297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239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attack 24/7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5669280"/>
            <a:ext cx="5760720" cy="365760"/>
          </a:xfrm>
          <a:prstGeom prst="roundRect">
            <a:avLst>
              <a:gd name="adj" fmla="val 30000"/>
            </a:avLst>
          </a:prstGeom>
          <a:solidFill>
            <a:srgbClr val="0F1A0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5669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1–5 = Spine  ·  Layers 6–8 = Immune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layers. Two systems.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09344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9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Embedding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645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12264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12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0574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1488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148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615184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15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25603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Strands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651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2651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118104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118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0632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Telescopes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315468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3154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5102A"/>
          </a:solidFill>
          <a:ln w="9525">
            <a:solidFill>
              <a:srgbClr val="4A0E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621024"/>
            <a:ext cx="329184" cy="3291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21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" y="35661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RL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36576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4A0E8F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36576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C0F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412394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" y="40690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41605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C0F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462686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6268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51560" y="45720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89120" y="46634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0" y="4663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" y="5074920"/>
            <a:ext cx="5029200" cy="438912"/>
          </a:xfrm>
          <a:prstGeom prst="roundRect">
            <a:avLst>
              <a:gd name="adj" fmla="val 12500"/>
            </a:avLst>
          </a:prstGeom>
          <a:solidFill>
            <a:srgbClr val="1C0F2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512978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5129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51560" y="50749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Layer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89120" y="516636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4389120" y="51663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943600" y="1554480"/>
            <a:ext cx="5760720" cy="4663440"/>
          </a:xfrm>
          <a:prstGeom prst="roundRect">
            <a:avLst>
              <a:gd name="adj" fmla="val 2353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VIEW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72200" y="2011680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6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40780" y="251460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5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3017520"/>
            <a:ext cx="502920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5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77940" y="3520440"/>
            <a:ext cx="489204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45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46520" y="4023360"/>
            <a:ext cx="475488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4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15100" y="4526280"/>
            <a:ext cx="461772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3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3680" y="5029200"/>
            <a:ext cx="448056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52260" y="5532120"/>
            <a:ext cx="434340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BREAKTHROUGH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innovations. One system.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digital twin knows you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you know yourself.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15102A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34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STREAM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05840" y="33832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9888" y="3492877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3429000"/>
            <a:ext cx="384048" cy="10959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35756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35608" y="3538597"/>
            <a:ext cx="384048" cy="8276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3611307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1819656" y="3621360"/>
            <a:ext cx="384048" cy="3566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2032" y="3591145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2203704" y="3657027"/>
            <a:ext cx="384048" cy="-2016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520091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87752" y="3636865"/>
            <a:ext cx="384048" cy="-7105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34155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1800" y="3565811"/>
            <a:ext cx="384048" cy="-10455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3781300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94176" y="3303091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3355848" y="3461260"/>
            <a:ext cx="384048" cy="-11244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94176" y="3668851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078224" y="3210275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3739896" y="3348811"/>
            <a:ext cx="384048" cy="-928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8224" y="3576035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4462272" y="3159817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4123944" y="3255995"/>
            <a:ext cx="384048" cy="-5045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3525577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316407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Shape 33"/>
          <p:cNvSpPr/>
          <p:nvPr/>
        </p:nvSpPr>
        <p:spPr>
          <a:xfrm>
            <a:off x="4507992" y="3205537"/>
            <a:ext cx="384048" cy="425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529830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5230368" y="3221993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3209790"/>
            <a:ext cx="384048" cy="5792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30368" y="3587753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402336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14400" y="416052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31520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The 99% of signal both silos throw away.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4937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wins: Detects change vs the customer's own past, not the population.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169164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1691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ARENA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49224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attacks AI.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survives.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92240" y="274320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15102A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2834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ATTACKS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58000" y="32004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063740" y="3657600"/>
            <a:ext cx="0" cy="22860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046720" y="32004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804672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8252460" y="3657600"/>
            <a:ext cx="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235440" y="32004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92354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Bust-out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9441180" y="3657600"/>
            <a:ext cx="0" cy="22860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424160" y="32004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104241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Mimicry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10629900" y="3657600"/>
            <a:ext cx="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498080" y="4023360"/>
            <a:ext cx="3474720" cy="320040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LIVE SYSTEM (SHADOW)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92240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Fraudsters use generative AI. Fight generative with generative.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92240" y="4937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immune response — not quarterly retraining.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forces. One moment.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counterfactual tools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9164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embeddings at scale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6916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openness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MAS, EBA accept continuous learning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389120"/>
            <a:ext cx="1371600" cy="10972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3337560" y="3474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$487B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3931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4389120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29" name="Shape 27"/>
          <p:cNvSpPr/>
          <p:nvPr/>
        </p:nvSpPr>
        <p:spPr>
          <a:xfrm>
            <a:off x="3520440" y="4389120"/>
            <a:ext cx="2057400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474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3931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TRANSFER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0" y="4389120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4389120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9098280" y="3474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A133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098280" y="3931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DEPLOY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281160" y="4389120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9" name="Shape 37"/>
          <p:cNvSpPr/>
          <p:nvPr/>
        </p:nvSpPr>
        <p:spPr>
          <a:xfrm>
            <a:off x="9281160" y="4389120"/>
            <a:ext cx="1714500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in action.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15-second Doppelgänger demonstration: real-time divergence 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47120" cy="4114800"/>
          </a:xfrm>
          <a:prstGeom prst="roundRect">
            <a:avLst>
              <a:gd name="adj" fmla="val 2667"/>
            </a:avLst>
          </a:prstGeom>
          <a:solidFill>
            <a:srgbClr val="1510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AURA_Demo_Video.mp4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40233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the video to show the Doppelgänger detecting behavioural divergence in real-time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61264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26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time: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6126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seconds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61264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6126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rate: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6126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61264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6126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taken: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6126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35440" y="61264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6126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impact: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126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SCENARIOS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scenarios. One engine.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Mei, 34 — Real Person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deposits shifting. New credit accounts.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e-wallet activity. Second device.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 "Legitimate"  ·  AURA: Early bust-out detected → Saved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1A1330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6916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Deepfakes — Synthetic 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flawless applications. Collectively: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micro-cadence, one device cluster.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310896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0F1A0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108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Field: Cluster lit up → Ring killed at application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0F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GXS:  Thin-file customers · No credit history · Behaviour is the only signal · AURA is behaviour-first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AURA sits.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Featurespace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Feedzai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Zest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Credit + Fraud unified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Real-time embeddings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Doppelgänger (personal twin)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Counterfactual RL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Adversarial Arena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Time telescopes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Graph contagion (Risk Field)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3F4F6"/>
                          </a:solidFill>
                        </a:rPr>
                        <a:t>Regulatory shadow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0F1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20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AURA'S UNIQUE ADVANTAGE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solution unifies credit and fraud into a single model with personal doppelgängers, counterfactual RL, and an adversarial arena. AURA is the first behaviour-first engine that watches both time horizons simultaneously.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economics.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only when your losses fall.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0A1F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7830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783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01752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291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product 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576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0584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baseline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233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0584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 decisions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891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before commitment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19202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LICENSE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28346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by volume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154680"/>
            <a:ext cx="301752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32918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32918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463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access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6576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36576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4632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+ horizon heads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0233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40233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shadow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38912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43891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4632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MRM support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38160" y="192024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12480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verified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412480" y="28346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reduction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3154680"/>
            <a:ext cx="301752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7" name="Shape 45"/>
          <p:cNvSpPr/>
          <p:nvPr/>
        </p:nvSpPr>
        <p:spPr>
          <a:xfrm>
            <a:off x="8412480" y="3291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0" y="32918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6868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to baseline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12480" y="365760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0" y="36576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68680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quarterly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12480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0" y="40233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6868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P&amp;L with yours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12480" y="438912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0" y="43891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68680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at 3× base fee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impact.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532888"/>
                <a:gridCol w="2532888"/>
                <a:gridCol w="253288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Credit loss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17%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Fraud loss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22%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</a:rPr>
                        <a:t>35%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</a:rPr>
                        <a:t>45%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False-positive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12%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4F6"/>
                          </a:solidFill>
                        </a:rPr>
                        <a:t>P&amp;L impact (US$M)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$20M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$45M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$65M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0" y="3840480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0F1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3886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OUTCOME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103120" y="4160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~US$50–80M annual P&amp;L impact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months. 4 phases.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47120" cy="36576"/>
          </a:xfrm>
          <a:prstGeom prst="rect">
            <a:avLst/>
          </a:prstGeom>
          <a:solidFill>
            <a:srgbClr val="4A0E8F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057400"/>
            <a:ext cx="320040" cy="3200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291840"/>
            <a:ext cx="2423160" cy="9144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34290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29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baseline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0574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5603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Telescopes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74720" y="3291840"/>
            <a:ext cx="2423160" cy="914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34290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429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7472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reduction ≥ 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057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5603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880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+ Arena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55080" y="3291840"/>
            <a:ext cx="2423160" cy="9144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55080" y="34290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429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35508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 ↓ ≥ 10%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195560" y="20574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101955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98280" y="25603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mo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35440" y="2880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 + Action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235440" y="3291840"/>
            <a:ext cx="2423160" cy="9144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35440" y="34290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9235440" y="3429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that makes AURA possible.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737360"/>
            <a:ext cx="1097280" cy="10972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645920"/>
            <a:ext cx="1280160" cy="128016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Darius Kowalski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1783080" cy="9144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Ex-CRO, DBS Consumer Bank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yrs APAC retail credit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model-risk transformation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737360"/>
            <a:ext cx="1097280" cy="10972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023360" y="1645920"/>
            <a:ext cx="1280160" cy="128016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 Sharma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3611880"/>
            <a:ext cx="1783080" cy="9144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fraud ML at Stripe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stores at 12M QPS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CS PhD candidate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73736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903720" y="1645920"/>
            <a:ext cx="1280160" cy="128016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Nikolai Kozlov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3611880"/>
            <a:ext cx="1783080" cy="9144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Doubly-robust counterfactual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(JMLR 2021)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Ex-Microsoft Research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9828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1A13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73736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784080" y="1645920"/>
            <a:ext cx="1280160" cy="128016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Li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REG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555480" y="3611880"/>
            <a:ext cx="1783080" cy="9144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235440" y="374904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Ex-MAS regulator (TRM)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 MAS model-risk notice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AURA audit-ready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080760"/>
            <a:ext cx="11247120" cy="320040"/>
          </a:xfrm>
          <a:prstGeom prst="roundRect">
            <a:avLst>
              <a:gd name="adj" fmla="val 17143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50+ years in credit risk, fraud ML, causal inference, and MAS regulation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days. Zero risk.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685800"/>
          </a:xfrm>
          <a:prstGeom prst="roundRect">
            <a:avLst>
              <a:gd name="adj" fmla="val 160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4708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shadow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licence · Single product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0" y="19659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1965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1247120" cy="685800"/>
          </a:xfrm>
          <a:prstGeom prst="roundRect">
            <a:avLst>
              <a:gd name="adj" fmla="val 160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7004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CRO/CDO level · Convene credit + fraud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0" y="278892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2788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1247120" cy="685800"/>
          </a:xfrm>
          <a:prstGeom prst="roundRect">
            <a:avLst>
              <a:gd name="adj" fmla="val 16000"/>
            </a:avLst>
          </a:prstGeom>
          <a:solidFill>
            <a:srgbClr val="1A133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930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 historical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749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outcome labels · Counterfactual training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0" y="361188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3611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1A133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389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SUCCESS CRITERIA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663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baseline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on 100% of portfolio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52120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212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520440" y="4663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False-positive reduction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5% vs current fraud model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20440" y="52120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5212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09360" y="4663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latency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seconds for behavioural shift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52120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5212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098280" y="4663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vs live comparison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9828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catches ≥ 20% more cases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098280" y="52120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9098280" y="5212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0F1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hit these targets, AURA reverts to GXS Bank at no cost.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Pitch Deck — Global Fintech Hackelerator 2026</dc:title>
  <dc:subject>PptxGenJS Presentation</dc:subject>
  <dc:creator>Continuum Risk Labs Pte. Ltd.</dc:creator>
  <cp:lastModifiedBy>Continuum Risk Labs Pte. Ltd.</cp:lastModifiedBy>
  <cp:revision>1</cp:revision>
  <dcterms:created xsi:type="dcterms:W3CDTF">2026-08-21T10:56:57Z</dcterms:created>
  <dcterms:modified xsi:type="dcterms:W3CDTF">2026-08-21T10:56:57Z</dcterms:modified>
</cp:coreProperties>
</file>